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lay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qtnFiwfG0J+kxVBZH7iwQoWt+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A94AB9-D9B0-481F-8380-9B2F37365BB5}">
  <a:tblStyle styleId="{D3A94AB9-D9B0-481F-8380-9B2F37365B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B146932-76AB-43AF-BDEC-9EBA1593656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15db5e1ac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515db5e1a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43dfd3e4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543dfd3e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15db5e1ac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515db5e1ac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4682400" y="4136875"/>
            <a:ext cx="28272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s-MX" sz="1800">
                <a:solidFill>
                  <a:srgbClr val="FFFFFF"/>
                </a:solidFill>
              </a:rPr>
              <a:t>Integrantes: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Matt Belizario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Matías Godoy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Cesar Lopez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Daniel Paredes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Nicolas Sandoval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Marco Solar 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831137"/>
            <a:ext cx="9144000" cy="29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b="1" lang="es-MX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Página Web para gestión de documentos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s-MX" sz="2400">
                <a:latin typeface="Arial"/>
                <a:ea typeface="Arial"/>
                <a:cs typeface="Arial"/>
                <a:sym typeface="Arial"/>
              </a:rPr>
              <a:t>Documento 0 - PTEC105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 amt="35000"/>
          </a:blip>
          <a:srcRect b="0" l="0" r="0" t="160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Introducción</a:t>
            </a:r>
            <a:endParaRPr b="1" u="sng">
              <a:solidFill>
                <a:srgbClr val="FFFFFF"/>
              </a:solidFill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627975" y="2812822"/>
            <a:ext cx="10307853" cy="2957152"/>
            <a:chOff x="-210225" y="987197"/>
            <a:chExt cx="10307853" cy="2957152"/>
          </a:xfrm>
        </p:grpSpPr>
        <p:sp>
          <p:nvSpPr>
            <p:cNvPr id="112" name="Google Shape;112;p2"/>
            <p:cNvSpPr/>
            <p:nvPr/>
          </p:nvSpPr>
          <p:spPr>
            <a:xfrm>
              <a:off x="1212569" y="987197"/>
              <a:ext cx="1300252" cy="13002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417971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-210225" y="2644149"/>
              <a:ext cx="35178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La Fundación Ciudad del Niño gestiona una alta cantidad de documentos sensibles y actualmente enfrenta problemas de organización y acceso rápido a la información.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607673" y="987197"/>
              <a:ext cx="1300252" cy="130025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813075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3813075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 identificó la necesidad de crear una plataforma web que permita subir, clasificar y consultar documentos de manera segura y eficiente.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002777" y="987197"/>
              <a:ext cx="1300252" cy="130025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208178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7208178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 proyecto busca mejorar la trazabilidad, reducir errores y optimizar la gestión documental de los programas sociales.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0" y="0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pa resalta un rendimiento económico decreciente" id="127" name="Google Shape;127;p3"/>
          <p:cNvPicPr preferRelativeResize="0"/>
          <p:nvPr/>
        </p:nvPicPr>
        <p:blipFill rotWithShape="1">
          <a:blip r:embed="rId3">
            <a:alphaModFix amt="35000"/>
          </a:blip>
          <a:srcRect b="6711" l="0" r="0" t="901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Objetivo General</a:t>
            </a:r>
            <a:endParaRPr b="1" u="sng">
              <a:solidFill>
                <a:srgbClr val="FFFFFF"/>
              </a:solidFill>
            </a:endParaRPr>
          </a:p>
        </p:txBody>
      </p:sp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1523700" y="2433300"/>
            <a:ext cx="9144600" cy="19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3000">
                <a:solidFill>
                  <a:srgbClr val="FFFFFF"/>
                </a:solidFill>
              </a:rPr>
              <a:t>Desarrollar un sistema informático de gestión documental con el propósito de centralizar la información de los programas de protección infantil en la Fundación Ciudad del Niño.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 amt="35000"/>
          </a:blip>
          <a:srcRect b="5927" l="0" r="0" t="9804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Objetivos Específicos</a:t>
            </a:r>
            <a:endParaRPr b="1" u="sng">
              <a:solidFill>
                <a:srgbClr val="FFFFFF"/>
              </a:solidFill>
            </a:endParaRPr>
          </a:p>
        </p:txBody>
      </p:sp>
      <p:grpSp>
        <p:nvGrpSpPr>
          <p:cNvPr id="137" name="Google Shape;137;p4"/>
          <p:cNvGrpSpPr/>
          <p:nvPr/>
        </p:nvGrpSpPr>
        <p:grpSpPr>
          <a:xfrm>
            <a:off x="838200" y="1904294"/>
            <a:ext cx="10515600" cy="4194000"/>
            <a:chOff x="0" y="78669"/>
            <a:chExt cx="10515600" cy="4194000"/>
          </a:xfrm>
        </p:grpSpPr>
        <p:sp>
          <p:nvSpPr>
            <p:cNvPr id="138" name="Google Shape;138;p4"/>
            <p:cNvSpPr/>
            <p:nvPr/>
          </p:nvSpPr>
          <p:spPr>
            <a:xfrm>
              <a:off x="0" y="786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48547" y="1272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Realizar análisis interno y externo de la organización, con el propósito de establecer su funcionamiento y contexto.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0" y="11451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C8BE1E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48547" y="11937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Aplicar herramientas cuantitativas, con el fin de identificar y visualizar comportamientos repetitivos y oportunidades de mejora en los procesos.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0" y="22116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5597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48547" y="22602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Utilizar el diagrama de Ishikawa, para detectar y clasificar las causas raíz de los problemas presentes en la gestión institucional.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32781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18692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48547" y="33267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s-MX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Analizar los procesos iniciales de registro y control de información a través del modelamiento en Bizagi para diagnosticar la eficiencia en los procesos.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>
            <p:ph type="title"/>
          </p:nvPr>
        </p:nvSpPr>
        <p:spPr>
          <a:xfrm>
            <a:off x="339050" y="2767100"/>
            <a:ext cx="3083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Análisis Interno Externo de la Organización</a:t>
            </a:r>
            <a:endParaRPr b="1"/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0709" y="132675"/>
            <a:ext cx="6573167" cy="659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 flipH="1" rot="-5400000">
            <a:off x="-1180946" y="1638150"/>
            <a:ext cx="6857700" cy="3581400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 rot="6100492">
            <a:off x="-752289" y="970724"/>
            <a:ext cx="4811682" cy="4091540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>
            <p:ph type="title"/>
          </p:nvPr>
        </p:nvSpPr>
        <p:spPr>
          <a:xfrm>
            <a:off x="431441" y="2690906"/>
            <a:ext cx="2880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Porter Cadena de Valor</a:t>
            </a:r>
            <a:endParaRPr b="1"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50" y="938300"/>
            <a:ext cx="7949876" cy="49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>
            <p:ph type="title"/>
          </p:nvPr>
        </p:nvSpPr>
        <p:spPr>
          <a:xfrm>
            <a:off x="507641" y="2767106"/>
            <a:ext cx="2880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Análisis FODA</a:t>
            </a:r>
            <a:endParaRPr b="1"/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2730" l="4820" r="3350" t="3443"/>
          <a:stretch/>
        </p:blipFill>
        <p:spPr>
          <a:xfrm>
            <a:off x="4346275" y="776000"/>
            <a:ext cx="7441275" cy="51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450"/>
                </a:srgbClr>
              </a:gs>
              <a:gs pos="19000">
                <a:srgbClr val="0A3041">
                  <a:alpha val="67450"/>
                </a:srgbClr>
              </a:gs>
              <a:gs pos="100000">
                <a:srgbClr val="156082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 u="sng">
                <a:solidFill>
                  <a:srgbClr val="FFFFFF"/>
                </a:solidFill>
              </a:rPr>
              <a:t>Estrategias FODA</a:t>
            </a:r>
            <a:endParaRPr b="1" sz="4000" u="sng">
              <a:solidFill>
                <a:srgbClr val="FFFFFF"/>
              </a:solidFill>
            </a:endParaRPr>
          </a:p>
        </p:txBody>
      </p:sp>
      <p:graphicFrame>
        <p:nvGraphicFramePr>
          <p:cNvPr id="188" name="Google Shape;188;p8"/>
          <p:cNvGraphicFramePr/>
          <p:nvPr/>
        </p:nvGraphicFramePr>
        <p:xfrm>
          <a:off x="805565" y="2112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{D3A94AB9-D9B0-481F-8380-9B2F37365BB5}</a:tableStyleId>
              </a:tblPr>
              <a:tblGrid>
                <a:gridCol w="2041825"/>
                <a:gridCol w="8562975"/>
              </a:tblGrid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/>
                        <a:t>Relación</a:t>
                      </a:r>
                      <a:endParaRPr sz="19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/>
                        <a:t>Estrategia</a:t>
                      </a:r>
                      <a:endParaRPr sz="19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Plataforma digital basada en la experiencia institucional.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Optimización de procesos con enfoque interdisciplinario.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Expansión tecnológica a nivel nacional.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Capacitación digital continua para el equipo técnico.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Centralización de datos en plataforma intuitiva.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Potenciar la imagen institucional para obtención de fondos.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Protocolos éticos y técnicos de protección de datos.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Fortalecer ciberseguridad mediante alianzas estratégicas.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Plan de contingencia ante fallas tecnológicas.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 txBox="1"/>
          <p:nvPr>
            <p:ph type="title"/>
          </p:nvPr>
        </p:nvSpPr>
        <p:spPr>
          <a:xfrm>
            <a:off x="351700" y="2767100"/>
            <a:ext cx="3036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Aplicación de herramienta cuantitativa</a:t>
            </a:r>
            <a:endParaRPr b="1"/>
          </a:p>
        </p:txBody>
      </p:sp>
      <p:pic>
        <p:nvPicPr>
          <p:cNvPr id="199" name="Google Shape;19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2428" y="1360630"/>
            <a:ext cx="7225748" cy="4136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>
            <p:ph type="title"/>
          </p:nvPr>
        </p:nvSpPr>
        <p:spPr>
          <a:xfrm>
            <a:off x="441800" y="2767100"/>
            <a:ext cx="29466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Ishikawa</a:t>
            </a:r>
            <a:endParaRPr b="1"/>
          </a:p>
        </p:txBody>
      </p:sp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50" y="1412800"/>
            <a:ext cx="7926351" cy="39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Levantamiento de Procesos</a:t>
            </a:r>
            <a:endParaRPr b="1" u="sng"/>
          </a:p>
        </p:txBody>
      </p:sp>
      <p:pic>
        <p:nvPicPr>
          <p:cNvPr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43088"/>
            <a:ext cx="11887202" cy="367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Requerimientos Funcionales</a:t>
            </a:r>
            <a:endParaRPr b="1" u="sng"/>
          </a:p>
        </p:txBody>
      </p:sp>
      <p:sp>
        <p:nvSpPr>
          <p:cNvPr id="222" name="Google Shape;22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rPr b="1" lang="es-MX" sz="2150"/>
              <a:t>Aquí se muestran 5 de un total de 54 requerimientos funcionales</a:t>
            </a:r>
            <a:endParaRPr b="1"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RF1. Inicio de sesión:</a:t>
            </a:r>
            <a:br>
              <a:rPr b="1" lang="es-MX" sz="2150"/>
            </a:br>
            <a:r>
              <a:rPr lang="es-MX" sz="2150"/>
              <a:t>El sistema debe permitir que los usuarios accedan mediante un nombre de usuario y contraseña para asegurar el acceso autorizado.</a:t>
            </a:r>
            <a:endParaRPr sz="21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RF2. Subida de documentos:</a:t>
            </a:r>
            <a:br>
              <a:rPr b="1" lang="es-MX" sz="2150"/>
            </a:br>
            <a:r>
              <a:rPr lang="es-MX" sz="2150"/>
              <a:t>El sistema debe permitir a los usuarios subir archivos en distintos formatos como documento (.pdf, .docx), excel (.xlsx, .csv).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RF3. Clasificación de documentos:</a:t>
            </a:r>
            <a:r>
              <a:rPr lang="es-MX" sz="2150"/>
              <a:t>El sistema debe permitir organizar los documentos en categorías según tipo, área o programa, formato facilitando su búsqueda.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RF4. Búsqueda de documentos:</a:t>
            </a:r>
            <a:br>
              <a:rPr b="1" lang="es-MX" sz="2150"/>
            </a:br>
            <a:r>
              <a:rPr lang="es-MX" sz="2150"/>
              <a:t>El sistema debe contar con un buscador para encontrar documentos por nombre, fecha o categoría.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RF5. Visualización de documento:</a:t>
            </a:r>
            <a:br>
              <a:rPr b="1" lang="es-MX" sz="2150"/>
            </a:br>
            <a:r>
              <a:rPr lang="es-MX" sz="2150"/>
              <a:t>Los usuarios que envían documentos deben poder visualizar los documentos directamente desde el sistema antes de enviar.</a:t>
            </a:r>
            <a:endParaRPr sz="2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Requerimientos No Funcionales</a:t>
            </a:r>
            <a:endParaRPr b="1" u="sng"/>
          </a:p>
        </p:txBody>
      </p:sp>
      <p:sp>
        <p:nvSpPr>
          <p:cNvPr id="228" name="Google Shape;228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MX" sz="1500"/>
              <a:t>Aquí se muestran 5 de 27 requisitos funcionales que tenemos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 1. Accesibilidad en distintos dispositivos:</a:t>
            </a:r>
            <a:br>
              <a:rPr b="1" lang="es-MX" sz="1500"/>
            </a:br>
            <a:r>
              <a:rPr lang="es-MX" sz="1500"/>
              <a:t>El sistema debe ser responsivo y adaptarse a computadores, tablets y celulares.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RNF2. Buen rendimiento:</a:t>
            </a:r>
            <a:br>
              <a:rPr b="1" lang="es-MX" sz="1500"/>
            </a:br>
            <a:r>
              <a:rPr lang="es-MX" sz="1500"/>
              <a:t>Las operaciones principales deben ejecutarse en menos de 2 segundos.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 3. Niveles de acceso:</a:t>
            </a:r>
            <a:br>
              <a:rPr b="1" lang="es-MX" sz="1500"/>
            </a:br>
            <a:r>
              <a:rPr lang="es-MX" sz="1500"/>
              <a:t>Debe haber distintos niveles de usuario para proteger la información sensible.</a:t>
            </a:r>
            <a:br>
              <a:rPr lang="es-MX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RNF4. Seguridad y respaldo: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1500"/>
              <a:t>El sistema debe incluir respaldo automático y medidas de seguridad (encriptación, autenticación segura).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RNF5. Usabilidad:</a:t>
            </a:r>
            <a:br>
              <a:rPr b="1" lang="es-MX" sz="1500"/>
            </a:br>
            <a:r>
              <a:rPr lang="es-MX" sz="1500"/>
              <a:t>La plataforma debe ser intuitiva y apta para usuarios sin conocimientos técnicos.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15db5e1ac_3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User Requirements (UR)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34" name="Google Shape;234;g3515db5e1ac_3_0"/>
          <p:cNvGraphicFramePr/>
          <p:nvPr/>
        </p:nvGraphicFramePr>
        <p:xfrm>
          <a:off x="1348525" y="210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{4B146932-76AB-43AF-BDEC-9EBA1593656E}</a:tableStyleId>
              </a:tblPr>
              <a:tblGrid>
                <a:gridCol w="737225"/>
                <a:gridCol w="470550"/>
                <a:gridCol w="5176400"/>
                <a:gridCol w="535400"/>
                <a:gridCol w="535400"/>
                <a:gridCol w="535400"/>
                <a:gridCol w="535400"/>
                <a:gridCol w="535400"/>
                <a:gridCol w="535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Necesidad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Verificabilidad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Fuente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sesión usuario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de sesión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usuarios accedan mediante un nombre de cuenta y contraseña para asegurar el acceso autorizado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nuevos usuarios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 nuevos usuarios, ingresando datos en los campos de nombre, correo, contraseña y roles que pueden asignarse a sí mismos, los cuales son usuario o supervisor.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Recuperación de contraseña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recuperar la contraseña mediante el correo ya registrado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Cierre de sesión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cerrar sesión automáticamente tras un período de tiempo sin interactuar con el sistema y después de mostrar un último aviso, el tiempo de inactividad será configurado por el administrador con un estimado de 20 minutos.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235" name="Google Shape;235;g3515db5e1ac_3_0"/>
          <p:cNvSpPr txBox="1"/>
          <p:nvPr/>
        </p:nvSpPr>
        <p:spPr>
          <a:xfrm>
            <a:off x="1272263" y="1520525"/>
            <a:ext cx="95967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 se presentan 4 de los 54 UR existentes, que corresponden a sesión usuario: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43dfd3e4c_0_6"/>
          <p:cNvSpPr txBox="1"/>
          <p:nvPr>
            <p:ph type="title"/>
          </p:nvPr>
        </p:nvSpPr>
        <p:spPr>
          <a:xfrm>
            <a:off x="838200" y="258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/>
              <a:t>Caso de uso expandido N°10 - Historial de acciones</a:t>
            </a:r>
            <a:endParaRPr/>
          </a:p>
        </p:txBody>
      </p:sp>
      <p:graphicFrame>
        <p:nvGraphicFramePr>
          <p:cNvPr id="241" name="Google Shape;241;g3543dfd3e4c_0_6"/>
          <p:cNvGraphicFramePr/>
          <p:nvPr/>
        </p:nvGraphicFramePr>
        <p:xfrm>
          <a:off x="2132175" y="21453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{4B146932-76AB-43AF-BDEC-9EBA1593656E}</a:tableStyleId>
              </a:tblPr>
              <a:tblGrid>
                <a:gridCol w="3684850"/>
                <a:gridCol w="3684850"/>
              </a:tblGrid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 Caso de Uso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Consultando historial de acciones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Actor(es)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Sistema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Propósito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Registrar acciones de actores.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Precondiciones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Acciones realizadas.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Postcondiciones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Historial actualizado.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Resumen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Sistema registra actividades.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Secundario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Curso normal de eventos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 hMerge="1"/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Acción del Actor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Respuesta del Sistema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</a:tr>
              <a:tr h="114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Acción: El actor realiza una acción (sube, edita o elimina un documento).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Respuesta: El sistema registra automáticamente la acción (sube, edita o elimina un documento).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242" name="Google Shape;242;g3543dfd3e4c_0_6"/>
          <p:cNvSpPr txBox="1"/>
          <p:nvPr/>
        </p:nvSpPr>
        <p:spPr>
          <a:xfrm>
            <a:off x="972375" y="1584225"/>
            <a:ext cx="102309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MX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caso de uso de una muestra de 60 casos de uso.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7620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</a:t>
            </a:r>
            <a:endParaRPr b="1" i="1"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i="1" lang="es-MX" sz="3200">
                <a:solidFill>
                  <a:srgbClr val="FFFFFF"/>
                </a:solidFill>
              </a:rPr>
              <a:t>Cliente</a:t>
            </a:r>
            <a:endParaRPr b="1" i="1" sz="3600"/>
          </a:p>
        </p:txBody>
      </p:sp>
      <p:pic>
        <p:nvPicPr>
          <p:cNvPr id="253" name="Google Shape;25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725" y="194350"/>
            <a:ext cx="6220575" cy="63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Administrador</a:t>
            </a:r>
            <a:endParaRPr b="1" i="1" sz="3600"/>
          </a:p>
        </p:txBody>
      </p:sp>
      <p:pic>
        <p:nvPicPr>
          <p:cNvPr id="264" name="Google Shape;2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850" y="1745513"/>
            <a:ext cx="7805675" cy="300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6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</a:t>
            </a:r>
            <a:endParaRPr b="1" i="1"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i="1" lang="es-MX" sz="3200">
                <a:solidFill>
                  <a:srgbClr val="FFFFFF"/>
                </a:solidFill>
              </a:rPr>
              <a:t>Supervisor</a:t>
            </a:r>
            <a:endParaRPr b="1" i="1" sz="3600"/>
          </a:p>
        </p:txBody>
      </p:sp>
      <p:pic>
        <p:nvPicPr>
          <p:cNvPr id="275" name="Google Shape;2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000" y="2351025"/>
            <a:ext cx="7904600" cy="19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411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</a:t>
            </a:r>
            <a:endParaRPr b="1" i="1"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i="1" lang="es-MX" sz="3200">
                <a:solidFill>
                  <a:srgbClr val="FFFFFF"/>
                </a:solidFill>
              </a:rPr>
              <a:t>Sistema</a:t>
            </a:r>
            <a:endParaRPr b="1" i="1" sz="3600"/>
          </a:p>
        </p:txBody>
      </p:sp>
      <p:pic>
        <p:nvPicPr>
          <p:cNvPr id="286" name="Google Shape;2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850" y="1114088"/>
            <a:ext cx="7895150" cy="42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15db5e1ac_7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pa resalta un rendimiento económico decreciente" id="292" name="Google Shape;292;g3515db5e1ac_7_5"/>
          <p:cNvPicPr preferRelativeResize="0"/>
          <p:nvPr/>
        </p:nvPicPr>
        <p:blipFill rotWithShape="1">
          <a:blip r:embed="rId3">
            <a:alphaModFix amt="35000"/>
          </a:blip>
          <a:srcRect b="6715" l="0" r="0" t="9016"/>
          <a:stretch/>
        </p:blipFill>
        <p:spPr>
          <a:xfrm>
            <a:off x="7" y="10"/>
            <a:ext cx="1219198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515db5e1ac_7_5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sz="8800">
                <a:solidFill>
                  <a:srgbClr val="FFFFFF"/>
                </a:solidFill>
              </a:rPr>
              <a:t>Conclusión</a:t>
            </a:r>
            <a:endParaRPr b="1" sz="8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2025-04-26T19:36:16Z</dcterms:created>
  <dc:creator>Matt Belizario</dc:creator>
</cp:coreProperties>
</file>