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i/ZP5rvzFcGUnqZ6PNEkDVn6yJ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749ec0079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6749ec0079_2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749ec0079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g36749ec0079_2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749ec0079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6749ec0079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257086" y="1618915"/>
            <a:ext cx="3767311" cy="3874774"/>
            <a:chOff x="0" y="-47625"/>
            <a:chExt cx="992214" cy="102051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992214" cy="972892"/>
            </a:xfrm>
            <a:custGeom>
              <a:rect b="b" l="l" r="r" t="t"/>
              <a:pathLst>
                <a:path extrusionOk="0" h="972892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972892"/>
                  </a:lnTo>
                  <a:lnTo>
                    <a:pt x="0" y="972892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992214" cy="10205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-2493290" y="867461"/>
            <a:ext cx="5558508" cy="5558508"/>
          </a:xfrm>
          <a:custGeom>
            <a:rect b="b" l="l" r="r" t="t"/>
            <a:pathLst>
              <a:path extrusionOk="0" h="5558508" w="5558508">
                <a:moveTo>
                  <a:pt x="0" y="0"/>
                </a:moveTo>
                <a:lnTo>
                  <a:pt x="5558508" y="0"/>
                </a:lnTo>
                <a:lnTo>
                  <a:pt x="555850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065218" y="1826714"/>
            <a:ext cx="122745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Proyecto        </a:t>
            </a:r>
            <a:endParaRPr/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rPr b="1" i="0" lang="en-US" sz="8771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Gestión Documental</a:t>
            </a:r>
            <a:endParaRPr/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71"/>
              <a:buFont typeface="Arial"/>
              <a:buNone/>
            </a:pPr>
            <a:r>
              <a:t/>
            </a:r>
            <a:endParaRPr b="1" i="0" sz="8771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065218" y="5855387"/>
            <a:ext cx="10664400" cy="6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70"/>
              <a:buFont typeface="Arial"/>
              <a:buNone/>
            </a:pPr>
            <a:r>
              <a:rPr b="0" i="0" lang="en-US" sz="41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PRIMER INCREMENTO (20%)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"/>
          <p:cNvGrpSpPr/>
          <p:nvPr/>
        </p:nvGrpSpPr>
        <p:grpSpPr>
          <a:xfrm rot="10800000">
            <a:off x="15781633" y="5255577"/>
            <a:ext cx="3767311" cy="6148240"/>
            <a:chOff x="0" y="-47625"/>
            <a:chExt cx="992214" cy="161929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992214" cy="1571665"/>
            </a:xfrm>
            <a:custGeom>
              <a:rect b="b" l="l" r="r" t="t"/>
              <a:pathLst>
                <a:path extrusionOk="0" h="1571665" w="992214">
                  <a:moveTo>
                    <a:pt x="0" y="0"/>
                  </a:moveTo>
                  <a:lnTo>
                    <a:pt x="992214" y="0"/>
                  </a:lnTo>
                  <a:lnTo>
                    <a:pt x="992214" y="1571665"/>
                  </a:lnTo>
                  <a:lnTo>
                    <a:pt x="0" y="1571665"/>
                  </a:ln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47625"/>
              <a:ext cx="992214" cy="1619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"/>
          <p:cNvSpPr/>
          <p:nvPr/>
        </p:nvSpPr>
        <p:spPr>
          <a:xfrm rot="10800000">
            <a:off x="15278681" y="4192518"/>
            <a:ext cx="7969027" cy="7969027"/>
          </a:xfrm>
          <a:custGeom>
            <a:rect b="b" l="l" r="r" t="t"/>
            <a:pathLst>
              <a:path extrusionOk="0" h="7969027" w="7969027">
                <a:moveTo>
                  <a:pt x="0" y="0"/>
                </a:moveTo>
                <a:lnTo>
                  <a:pt x="7969027" y="0"/>
                </a:lnTo>
                <a:lnTo>
                  <a:pt x="7969027" y="7969028"/>
                </a:lnTo>
                <a:lnTo>
                  <a:pt x="0" y="79690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284293" y="6424865"/>
            <a:ext cx="4392300" cy="4369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1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MATT BELIZARIO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MATÍAS GODOY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CÉSAR LÓPEZ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DANIEL PAREDES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NICOLAS SANDOVAL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670" lvl="1" marL="53334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Char char="•"/>
            </a:pPr>
            <a:r>
              <a:rPr b="0" i="0" lang="en-US" sz="247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MARCO SOLAR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755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0"/>
              <a:buFont typeface="Arial"/>
              <a:buNone/>
            </a:pPr>
            <a:r>
              <a:t/>
            </a:r>
            <a:endParaRPr b="0" i="0" sz="247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2"/>
          <p:cNvGrpSpPr/>
          <p:nvPr/>
        </p:nvGrpSpPr>
        <p:grpSpPr>
          <a:xfrm rot="-5400000">
            <a:off x="2095639" y="-1763055"/>
            <a:ext cx="1586542" cy="5966568"/>
            <a:chOff x="0" y="-47625"/>
            <a:chExt cx="534441" cy="27508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534441" cy="2703213"/>
            </a:xfrm>
            <a:custGeom>
              <a:rect b="b" l="l" r="r" t="t"/>
              <a:pathLst>
                <a:path extrusionOk="0" h="2703213" w="534441">
                  <a:moveTo>
                    <a:pt x="178243" y="2684144"/>
                  </a:moveTo>
                  <a:cubicBezTo>
                    <a:pt x="205643" y="2695658"/>
                    <a:pt x="236792" y="2703213"/>
                    <a:pt x="267364" y="2703213"/>
                  </a:cubicBezTo>
                  <a:cubicBezTo>
                    <a:pt x="297938" y="2703213"/>
                    <a:pt x="327357" y="2696736"/>
                    <a:pt x="354467" y="2685222"/>
                  </a:cubicBezTo>
                  <a:cubicBezTo>
                    <a:pt x="355045" y="2684863"/>
                    <a:pt x="355621" y="2684863"/>
                    <a:pt x="356198" y="2684503"/>
                  </a:cubicBezTo>
                  <a:cubicBezTo>
                    <a:pt x="458010" y="2638448"/>
                    <a:pt x="532999" y="2516834"/>
                    <a:pt x="534441" y="2332720"/>
                  </a:cubicBezTo>
                  <a:lnTo>
                    <a:pt x="534441" y="0"/>
                  </a:lnTo>
                  <a:lnTo>
                    <a:pt x="0" y="0"/>
                  </a:lnTo>
                  <a:lnTo>
                    <a:pt x="0" y="2330989"/>
                  </a:lnTo>
                  <a:cubicBezTo>
                    <a:pt x="1442" y="2517553"/>
                    <a:pt x="75277" y="2639168"/>
                    <a:pt x="178243" y="2684144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-47625"/>
              <a:ext cx="534441" cy="2623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 rot="-5400000">
            <a:off x="9302284" y="1252912"/>
            <a:ext cx="9756645" cy="8698504"/>
          </a:xfrm>
          <a:custGeom>
            <a:rect b="b" l="l" r="r" t="t"/>
            <a:pathLst>
              <a:path extrusionOk="0" h="8698504" w="9756645">
                <a:moveTo>
                  <a:pt x="0" y="0"/>
                </a:moveTo>
                <a:lnTo>
                  <a:pt x="9756645" y="0"/>
                </a:lnTo>
                <a:lnTo>
                  <a:pt x="9756645" y="8698504"/>
                </a:lnTo>
                <a:lnTo>
                  <a:pt x="0" y="8698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7" l="-84" r="-8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683515" y="793625"/>
            <a:ext cx="24108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43"/>
              <a:buFont typeface="Arial"/>
              <a:buNone/>
            </a:pPr>
            <a:r>
              <a:rPr b="1" i="0" lang="en-US" sz="554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INDICE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39277" y="2395769"/>
            <a:ext cx="145563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Introducción del proyecto y Propuesta de solución e incremento.</a:t>
            </a:r>
            <a:endParaRPr/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0" i="0" sz="29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Desarrollo SCRUM++</a:t>
            </a:r>
            <a:endParaRPr/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Diagramas (Diagrama de Clase, Secuencia del diseño, de Componentes, de despliegue)</a:t>
            </a:r>
            <a:endParaRPr/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Árbol de Navegación</a:t>
            </a:r>
            <a:endParaRPr/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Casos de Prueba</a:t>
            </a:r>
            <a:endParaRPr/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Retrospectiva y Tabla de esfuerzo</a:t>
            </a:r>
            <a:endParaRPr/>
          </a:p>
          <a:p>
            <a:pPr indent="-419036" lvl="0" marL="45720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Poppins"/>
              <a:buChar char="●"/>
            </a:pPr>
            <a:r>
              <a:rPr b="0" i="0" lang="en-US" sz="2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Burn Down y Burn 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 rot="1528540">
            <a:off x="-292412" y="4287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117883" y="828675"/>
            <a:ext cx="12052234" cy="122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5"/>
              <a:buFont typeface="Arial"/>
              <a:buNone/>
            </a:pPr>
            <a:r>
              <a:rPr b="1" i="0" lang="en-US" sz="675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 flipH="1" rot="-1285720">
            <a:off x="15941615" y="365032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3"/>
          <p:cNvGrpSpPr/>
          <p:nvPr/>
        </p:nvGrpSpPr>
        <p:grpSpPr>
          <a:xfrm>
            <a:off x="1398498" y="6182243"/>
            <a:ext cx="6222865" cy="2876053"/>
            <a:chOff x="0" y="-38100"/>
            <a:chExt cx="1638933" cy="757474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1638933" cy="719374"/>
            </a:xfrm>
            <a:custGeom>
              <a:rect b="b" l="l" r="r" t="t"/>
              <a:pathLst>
                <a:path extrusionOk="0" h="719374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5924"/>
                  </a:lnTo>
                  <a:cubicBezTo>
                    <a:pt x="1638933" y="672752"/>
                    <a:pt x="1632248" y="688891"/>
                    <a:pt x="1620349" y="700790"/>
                  </a:cubicBezTo>
                  <a:cubicBezTo>
                    <a:pt x="1608450" y="712690"/>
                    <a:pt x="1592311" y="719374"/>
                    <a:pt x="1575483" y="719374"/>
                  </a:cubicBezTo>
                  <a:lnTo>
                    <a:pt x="63450" y="719374"/>
                  </a:lnTo>
                  <a:cubicBezTo>
                    <a:pt x="46622" y="719374"/>
                    <a:pt x="30483" y="712690"/>
                    <a:pt x="18584" y="700790"/>
                  </a:cubicBezTo>
                  <a:cubicBezTo>
                    <a:pt x="6685" y="688891"/>
                    <a:pt x="0" y="672752"/>
                    <a:pt x="0" y="655924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0" y="-38100"/>
              <a:ext cx="1638933" cy="7574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3"/>
          <p:cNvGrpSpPr/>
          <p:nvPr/>
        </p:nvGrpSpPr>
        <p:grpSpPr>
          <a:xfrm>
            <a:off x="10095920" y="6191955"/>
            <a:ext cx="6222865" cy="2856620"/>
            <a:chOff x="0" y="-38100"/>
            <a:chExt cx="1638933" cy="752356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0" y="-38100"/>
              <a:ext cx="1638933" cy="752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8" name="Google Shape;118;p3"/>
          <p:cNvSpPr txBox="1"/>
          <p:nvPr/>
        </p:nvSpPr>
        <p:spPr>
          <a:xfrm>
            <a:off x="2293945" y="4983263"/>
            <a:ext cx="43086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Funcionalidades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Priorizadas: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2080193" y="5294530"/>
            <a:ext cx="22542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4043" u="none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Enfoque: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546505" y="6600926"/>
            <a:ext cx="5803500" cy="2368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Registro e inicio de sesión de usuarios.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Subida y visualización previa de documentos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8F8F8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Validación de formatos y navegación intuitiva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0305538" y="6868410"/>
            <a:ext cx="5803500" cy="1421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Seguridad y trazabilidad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7489" lvl="1" marL="474978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Preparación para funcionalidades avanzadas en futuros sprints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2515825" y="2185276"/>
            <a:ext cx="13256400" cy="1895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Para comenzar el desarrollo del “Sistema de Gestión Documental para la Fundación Ciudad del Niño”,  en este primer incremento correspondiente al 20% del desarrollo del proyecto, se realizó el desarrollo y la implementación de los casos de uso más esenciales para el funcionamiento del sistema, tales como el registro e inicio de sesión de usuarios, la subida de documentos y la visualización previa de los archivos.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158757" y="3611569"/>
            <a:ext cx="4732832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 General: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028700" y="4541919"/>
            <a:ext cx="6200100" cy="4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Desarrollar un sistema informático de gestión documental con el propósito de centralizar la información de los programas de protección infantil en la Fundación Ciudad del Niño.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8889378" y="3611569"/>
            <a:ext cx="5506778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98"/>
              <a:buFont typeface="Arial"/>
              <a:buNone/>
            </a:pPr>
            <a:r>
              <a:rPr b="1" i="0" lang="en-US" sz="3498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Específicos: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413705" y="4522869"/>
            <a:ext cx="7877100" cy="4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Diseñar un sistema, que funcione correctamente y pueda modificarse según las futuras necesidades de la fundación.</a:t>
            </a:r>
            <a:endParaRPr/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9107" lvl="1" marL="598214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2770"/>
              <a:buFont typeface="Arial"/>
              <a:buChar char="•"/>
            </a:pPr>
            <a:r>
              <a:rPr b="1" i="0" lang="en-US" sz="2770" u="none" cap="none" strike="noStrike">
                <a:solidFill>
                  <a:srgbClr val="4495A2"/>
                </a:solidFill>
                <a:latin typeface="Raleway"/>
                <a:ea typeface="Raleway"/>
                <a:cs typeface="Raleway"/>
                <a:sym typeface="Raleway"/>
              </a:rPr>
              <a:t>Desarrollar un sistema, con el objetivo de facilitar la supervisión institucional y mejorar la usabilidad y la toma de decisiones basada en datos.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49ec0079_2_41"/>
          <p:cNvSpPr/>
          <p:nvPr/>
        </p:nvSpPr>
        <p:spPr>
          <a:xfrm>
            <a:off x="15779768" y="0"/>
            <a:ext cx="2508232" cy="3592519"/>
          </a:xfrm>
          <a:custGeom>
            <a:rect b="b" l="l" r="r" t="t"/>
            <a:pathLst>
              <a:path extrusionOk="0" h="3592519" w="2508232">
                <a:moveTo>
                  <a:pt x="0" y="0"/>
                </a:moveTo>
                <a:lnTo>
                  <a:pt x="2508232" y="0"/>
                </a:lnTo>
                <a:lnTo>
                  <a:pt x="2508232" y="3592519"/>
                </a:lnTo>
                <a:lnTo>
                  <a:pt x="0" y="3592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6749ec0079_2_41"/>
          <p:cNvSpPr txBox="1"/>
          <p:nvPr/>
        </p:nvSpPr>
        <p:spPr>
          <a:xfrm>
            <a:off x="2152650" y="883291"/>
            <a:ext cx="117144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50"/>
              <a:buFont typeface="Arial"/>
              <a:buNone/>
            </a:pPr>
            <a:r>
              <a:rPr b="1" i="0" lang="en-US" sz="6950" u="none" cap="none" strike="noStrike">
                <a:solidFill>
                  <a:srgbClr val="7CA655"/>
                </a:solidFill>
                <a:latin typeface="Poppins"/>
                <a:ea typeface="Poppins"/>
                <a:cs typeface="Poppins"/>
                <a:sym typeface="Poppins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6749ec0079_2_41"/>
          <p:cNvSpPr txBox="1"/>
          <p:nvPr/>
        </p:nvSpPr>
        <p:spPr>
          <a:xfrm>
            <a:off x="1028700" y="4541919"/>
            <a:ext cx="62001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g36749ec0079_2_41"/>
          <p:cNvSpPr txBox="1"/>
          <p:nvPr/>
        </p:nvSpPr>
        <p:spPr>
          <a:xfrm>
            <a:off x="2628525" y="2745723"/>
            <a:ext cx="12408900" cy="6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Se propone desarrollar una </a:t>
            </a:r>
            <a:r>
              <a:rPr b="1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plataforma web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que facilite la gestión y recolección de datos mediante encuestas, adaptada a las necesidades específicas de la Fundación.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 este </a:t>
            </a:r>
            <a:r>
              <a:rPr b="1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primer incremento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se implementó el </a:t>
            </a:r>
            <a:r>
              <a:rPr b="1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20% del proyecto total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abarcando </a:t>
            </a:r>
            <a:r>
              <a:rPr b="1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11 casos de uso prioritarios</a:t>
            </a: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, enfocados en funcionalidades básicas como: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Inicio y cierre de sesión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Registro de usuarios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Subida, clasificación y visualización de documentos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Validación de archivos y recuperación de contraseña</a:t>
            </a:r>
            <a:br>
              <a:rPr b="0" i="0" lang="en-US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just">
              <a:lnSpc>
                <a:spcPct val="140036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770"/>
              <a:buFont typeface="Arial"/>
              <a:buNone/>
            </a:pPr>
            <a:r>
              <a:t/>
            </a:r>
            <a:endParaRPr b="1" i="0" sz="2770" u="none" cap="none" strike="noStrike">
              <a:solidFill>
                <a:srgbClr val="4495A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g36749ec0079_2_41"/>
          <p:cNvSpPr/>
          <p:nvPr/>
        </p:nvSpPr>
        <p:spPr>
          <a:xfrm>
            <a:off x="0" y="62913"/>
            <a:ext cx="7315200" cy="1383238"/>
          </a:xfrm>
          <a:custGeom>
            <a:rect b="b" l="l" r="r" t="t"/>
            <a:pathLst>
              <a:path extrusionOk="0" h="1383238" w="7315200">
                <a:moveTo>
                  <a:pt x="0" y="0"/>
                </a:moveTo>
                <a:lnTo>
                  <a:pt x="7315200" y="0"/>
                </a:lnTo>
                <a:lnTo>
                  <a:pt x="7315200" y="1383238"/>
                </a:lnTo>
                <a:lnTo>
                  <a:pt x="0" y="1383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 rot="1528540">
            <a:off x="-43937" y="298893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3117883" y="866775"/>
            <a:ext cx="120522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INTRODUCCIÓN AL SCRUM++ DEL PROYECTO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Product Backlog List</a:t>
            </a:r>
            <a:endParaRPr b="1" i="0" sz="56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741378" y="7104392"/>
            <a:ext cx="1427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None/>
            </a:pPr>
            <a:r>
              <a:rPr b="0" i="0" lang="en-US" sz="2999" u="none" cap="none" strike="noStrike">
                <a:solidFill>
                  <a:srgbClr val="F8F8F8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9551" y="4233450"/>
            <a:ext cx="13157626" cy="5597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CLASES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5925" y="1984225"/>
            <a:ext cx="11299000" cy="785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749ec0079_2_33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6749ec0079_2_33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6749ec0079_2_33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Modelo fisico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6749ec0079_2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7650" y="2188925"/>
            <a:ext cx="13565749" cy="79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238313" y="4463575"/>
            <a:ext cx="12055763" cy="5752195"/>
          </a:xfrm>
          <a:custGeom>
            <a:rect b="b" l="l" r="r" t="t"/>
            <a:pathLst>
              <a:path extrusionOk="0" h="5584655" w="11819375">
                <a:moveTo>
                  <a:pt x="0" y="0"/>
                </a:moveTo>
                <a:lnTo>
                  <a:pt x="11819376" y="0"/>
                </a:lnTo>
                <a:lnTo>
                  <a:pt x="11819376" y="5584655"/>
                </a:lnTo>
                <a:lnTo>
                  <a:pt x="0" y="5584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3117883" y="866775"/>
            <a:ext cx="120522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SECUENCIA DE DISEÑO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1451150" y="3133675"/>
            <a:ext cx="1413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4" lvl="1" marL="777248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Caso de uso: Inicio de sesión              Total Casos de uso=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1065125" y="3090450"/>
            <a:ext cx="590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717350" y="3111801"/>
            <a:ext cx="14853299" cy="6179902"/>
          </a:xfrm>
          <a:custGeom>
            <a:rect b="b" l="l" r="r" t="t"/>
            <a:pathLst>
              <a:path extrusionOk="0" h="5409105" w="13914097">
                <a:moveTo>
                  <a:pt x="0" y="0"/>
                </a:moveTo>
                <a:lnTo>
                  <a:pt x="13914097" y="0"/>
                </a:lnTo>
                <a:lnTo>
                  <a:pt x="13914097" y="5409105"/>
                </a:lnTo>
                <a:lnTo>
                  <a:pt x="0" y="5409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3159311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1376" y="2253375"/>
            <a:ext cx="13785226" cy="70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3117883" y="866775"/>
            <a:ext cx="12052234" cy="101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ÁRBOL DE NAVEGACIÓN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1879" y="2065094"/>
            <a:ext cx="12052249" cy="80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13"/>
          <p:cNvGrpSpPr/>
          <p:nvPr/>
        </p:nvGrpSpPr>
        <p:grpSpPr>
          <a:xfrm>
            <a:off x="554638" y="5667551"/>
            <a:ext cx="5012677" cy="2789673"/>
            <a:chOff x="0" y="-38100"/>
            <a:chExt cx="1638933" cy="752400"/>
          </a:xfrm>
        </p:grpSpPr>
        <p:sp>
          <p:nvSpPr>
            <p:cNvPr id="207" name="Google Shape;207;p1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3"/>
            <p:cNvSpPr txBox="1"/>
            <p:nvPr/>
          </p:nvSpPr>
          <p:spPr>
            <a:xfrm>
              <a:off x="0" y="-38100"/>
              <a:ext cx="16389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3"/>
          <p:cNvSpPr/>
          <p:nvPr/>
        </p:nvSpPr>
        <p:spPr>
          <a:xfrm rot="1528540">
            <a:off x="216863" y="33671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3117883" y="866775"/>
            <a:ext cx="12052200" cy="22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PRUEBA: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 DE USO N°20 - Validación de formato de archivos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474670" y="6552230"/>
            <a:ext cx="47034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el rechazo de un archivo con una extensión no admitida</a:t>
            </a:r>
            <a:endParaRPr/>
          </a:p>
          <a:p>
            <a:pPr indent="0" lvl="0" marL="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213" name="Google Shape;213;p13"/>
          <p:cNvGrpSpPr/>
          <p:nvPr/>
        </p:nvGrpSpPr>
        <p:grpSpPr>
          <a:xfrm>
            <a:off x="5889188" y="5676127"/>
            <a:ext cx="5587778" cy="2772519"/>
            <a:chOff x="0" y="-38100"/>
            <a:chExt cx="1638933" cy="752400"/>
          </a:xfrm>
        </p:grpSpPr>
        <p:sp>
          <p:nvSpPr>
            <p:cNvPr id="214" name="Google Shape;214;p13"/>
            <p:cNvSpPr/>
            <p:nvPr/>
          </p:nvSpPr>
          <p:spPr>
            <a:xfrm>
              <a:off x="0" y="0"/>
              <a:ext cx="1638933" cy="714256"/>
            </a:xfrm>
            <a:custGeom>
              <a:rect b="b" l="l" r="r" t="t"/>
              <a:pathLst>
                <a:path extrusionOk="0" h="714256" w="1638933">
                  <a:moveTo>
                    <a:pt x="63450" y="0"/>
                  </a:moveTo>
                  <a:lnTo>
                    <a:pt x="1575483" y="0"/>
                  </a:lnTo>
                  <a:cubicBezTo>
                    <a:pt x="1592311" y="0"/>
                    <a:pt x="1608450" y="6685"/>
                    <a:pt x="1620349" y="18584"/>
                  </a:cubicBezTo>
                  <a:cubicBezTo>
                    <a:pt x="1632248" y="30483"/>
                    <a:pt x="1638933" y="46622"/>
                    <a:pt x="1638933" y="63450"/>
                  </a:cubicBezTo>
                  <a:lnTo>
                    <a:pt x="1638933" y="650806"/>
                  </a:lnTo>
                  <a:cubicBezTo>
                    <a:pt x="1638933" y="667634"/>
                    <a:pt x="1632248" y="683772"/>
                    <a:pt x="1620349" y="695672"/>
                  </a:cubicBezTo>
                  <a:cubicBezTo>
                    <a:pt x="1608450" y="707571"/>
                    <a:pt x="1592311" y="714256"/>
                    <a:pt x="1575483" y="714256"/>
                  </a:cubicBezTo>
                  <a:lnTo>
                    <a:pt x="63450" y="714256"/>
                  </a:lnTo>
                  <a:cubicBezTo>
                    <a:pt x="46622" y="714256"/>
                    <a:pt x="30483" y="707571"/>
                    <a:pt x="18584" y="695672"/>
                  </a:cubicBezTo>
                  <a:cubicBezTo>
                    <a:pt x="6685" y="683772"/>
                    <a:pt x="0" y="667634"/>
                    <a:pt x="0" y="650806"/>
                  </a:cubicBezTo>
                  <a:lnTo>
                    <a:pt x="0" y="63450"/>
                  </a:lnTo>
                  <a:cubicBezTo>
                    <a:pt x="0" y="46622"/>
                    <a:pt x="6685" y="30483"/>
                    <a:pt x="18584" y="18584"/>
                  </a:cubicBezTo>
                  <a:cubicBezTo>
                    <a:pt x="30483" y="6685"/>
                    <a:pt x="46622" y="0"/>
                    <a:pt x="63450" y="0"/>
                  </a:cubicBezTo>
                  <a:close/>
                </a:path>
              </a:pathLst>
            </a:custGeom>
            <a:solidFill>
              <a:srgbClr val="F9D4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highlight>
                  <a:srgbClr val="7CA655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3"/>
            <p:cNvSpPr txBox="1"/>
            <p:nvPr/>
          </p:nvSpPr>
          <p:spPr>
            <a:xfrm>
              <a:off x="0" y="-38100"/>
              <a:ext cx="1638900" cy="7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highlight>
                  <a:srgbClr val="7CA655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3"/>
          <p:cNvSpPr txBox="1"/>
          <p:nvPr/>
        </p:nvSpPr>
        <p:spPr>
          <a:xfrm>
            <a:off x="6002868" y="6384530"/>
            <a:ext cx="50127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muestra la alerta roja “Formato no soportado. Los tipos admitidos son PDF, DOCX, XLSX”, y descarta el archivo. </a:t>
            </a:r>
            <a:endParaRPr/>
          </a:p>
          <a:p>
            <a:pPr indent="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17" name="Google Shape;217;p13"/>
          <p:cNvSpPr txBox="1"/>
          <p:nvPr/>
        </p:nvSpPr>
        <p:spPr>
          <a:xfrm>
            <a:off x="528085" y="4863150"/>
            <a:ext cx="50994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6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Caso de Prueba:</a:t>
            </a:r>
            <a:endParaRPr b="0" i="0" sz="1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6753570" y="4422730"/>
            <a:ext cx="38589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Resultados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Esperados: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13"/>
          <p:cNvGrpSpPr/>
          <p:nvPr/>
        </p:nvGrpSpPr>
        <p:grpSpPr>
          <a:xfrm>
            <a:off x="11692850" y="5676125"/>
            <a:ext cx="6015481" cy="2772359"/>
            <a:chOff x="0" y="-47625"/>
            <a:chExt cx="1443600" cy="1176600"/>
          </a:xfrm>
        </p:grpSpPr>
        <p:sp>
          <p:nvSpPr>
            <p:cNvPr id="220" name="Google Shape;220;p13"/>
            <p:cNvSpPr/>
            <p:nvPr/>
          </p:nvSpPr>
          <p:spPr>
            <a:xfrm>
              <a:off x="0" y="0"/>
              <a:ext cx="1443589" cy="1128905"/>
            </a:xfrm>
            <a:custGeom>
              <a:rect b="b" l="l" r="r" t="t"/>
              <a:pathLst>
                <a:path extrusionOk="0" h="1128905" w="1443589">
                  <a:moveTo>
                    <a:pt x="72036" y="0"/>
                  </a:moveTo>
                  <a:lnTo>
                    <a:pt x="1371553" y="0"/>
                  </a:lnTo>
                  <a:cubicBezTo>
                    <a:pt x="1411337" y="0"/>
                    <a:pt x="1443589" y="32252"/>
                    <a:pt x="1443589" y="72036"/>
                  </a:cubicBezTo>
                  <a:lnTo>
                    <a:pt x="1443589" y="1056869"/>
                  </a:lnTo>
                  <a:cubicBezTo>
                    <a:pt x="1443589" y="1096653"/>
                    <a:pt x="1411337" y="1128905"/>
                    <a:pt x="1371553" y="1128905"/>
                  </a:cubicBezTo>
                  <a:lnTo>
                    <a:pt x="72036" y="1128905"/>
                  </a:lnTo>
                  <a:cubicBezTo>
                    <a:pt x="32252" y="1128905"/>
                    <a:pt x="0" y="1096653"/>
                    <a:pt x="0" y="1056869"/>
                  </a:cubicBezTo>
                  <a:lnTo>
                    <a:pt x="0" y="72036"/>
                  </a:lnTo>
                  <a:cubicBezTo>
                    <a:pt x="0" y="32252"/>
                    <a:pt x="32252" y="0"/>
                    <a:pt x="72036" y="0"/>
                  </a:cubicBezTo>
                  <a:close/>
                </a:path>
              </a:pathLst>
            </a:custGeom>
            <a:solidFill>
              <a:srgbClr val="7CA6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3"/>
            <p:cNvSpPr txBox="1"/>
            <p:nvPr/>
          </p:nvSpPr>
          <p:spPr>
            <a:xfrm>
              <a:off x="0" y="-47625"/>
              <a:ext cx="1443600" cy="117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3"/>
          <p:cNvSpPr txBox="1"/>
          <p:nvPr/>
        </p:nvSpPr>
        <p:spPr>
          <a:xfrm>
            <a:off x="12720788" y="4464529"/>
            <a:ext cx="38589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Resultados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rPr b="1" i="0" lang="en-US" sz="3843" u="sng" cap="none" strike="noStrike">
                <a:solidFill>
                  <a:srgbClr val="F8F8F8"/>
                </a:solidFill>
                <a:latin typeface="Open Sans"/>
                <a:ea typeface="Open Sans"/>
                <a:cs typeface="Open Sans"/>
                <a:sym typeface="Open Sans"/>
              </a:rPr>
              <a:t>Obtenidos:</a:t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11748117" y="6008015"/>
            <a:ext cx="5904900" cy="2043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Al intentar subir archivo_texto.txt, el sistema desplegó la alerta “Formato no permitido". Los tipos admitidos son: PDF, DOCX, XLSX”. El archivo fue descartado.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3684875" y="3220425"/>
            <a:ext cx="11065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-US" sz="2900" u="none" cap="none" strike="noStrike">
                <a:solidFill>
                  <a:srgbClr val="F8F8F8"/>
                </a:solidFill>
                <a:latin typeface="Calibri"/>
                <a:ea typeface="Calibri"/>
                <a:cs typeface="Calibri"/>
                <a:sym typeface="Calibri"/>
              </a:rPr>
              <a:t>Caso de prueba del Caso de uso N°20 de un total de 11 Casos de Prueba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749ec0079_2_1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6749ec0079_2_1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6749ec0079_2_1"/>
          <p:cNvSpPr txBox="1"/>
          <p:nvPr/>
        </p:nvSpPr>
        <p:spPr>
          <a:xfrm>
            <a:off x="3117883" y="866775"/>
            <a:ext cx="12052200" cy="22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CASOS DE PRUEBA: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CASO DE USO N°20 - Validación de formato de archivos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6749ec0079_2_1"/>
          <p:cNvSpPr txBox="1"/>
          <p:nvPr/>
        </p:nvSpPr>
        <p:spPr>
          <a:xfrm>
            <a:off x="5953750" y="5036025"/>
            <a:ext cx="54255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que, al seleccionar la opción Registrar, se despliegue el formulario completo (nombre, correo, contraseña, confirmación de contraseña)</a:t>
            </a:r>
            <a:endParaRPr/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el registro exitoso con datos valids y contraseña que cumpla la política (mi.8 caracteres, mayuscula, minúscula y número)</a:t>
            </a:r>
            <a:endParaRPr/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la validaion de formato de correo electronico incorrecto (c.lpezastro1@@uandresbello.edu)</a:t>
            </a:r>
            <a:endParaRPr/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Verificar el rechazo del registro cuando el correo ya existe en la base de datos.</a:t>
            </a:r>
            <a:endParaRPr/>
          </a:p>
        </p:txBody>
      </p:sp>
      <p:sp>
        <p:nvSpPr>
          <p:cNvPr id="233" name="Google Shape;233;g36749ec0079_2_1"/>
          <p:cNvSpPr txBox="1"/>
          <p:nvPr/>
        </p:nvSpPr>
        <p:spPr>
          <a:xfrm>
            <a:off x="7095525" y="4886850"/>
            <a:ext cx="5684400" cy="4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muestra el formulario con todos los campos requeridos y el botón “Crear cuenta” inicialmente deshabilitado</a:t>
            </a:r>
            <a:endParaRPr/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Con datos válidos, el sistema guarda el registro, muestra la notificación verde “Cuenta creada con éxito” y redirige al inicio de sesión.</a:t>
            </a:r>
            <a:endParaRPr/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despliega la alerta “Dirección de correo electrónico inválida” y no habilita el botón “Crear cuenta”.</a:t>
            </a:r>
            <a:endParaRPr/>
          </a:p>
          <a:p>
            <a:pPr indent="-342900" lvl="0" marL="457200" marR="0" rtl="0"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4495A2"/>
              </a:buClr>
              <a:buSzPts val="1800"/>
              <a:buFont typeface="Arial"/>
              <a:buChar char="●"/>
            </a:pPr>
            <a:r>
              <a:rPr b="0" i="0" lang="en-US" sz="18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El sistema muestra la alerta “El correo electrónico ya esta registrado” y cancela el registro.</a:t>
            </a:r>
            <a:endParaRPr/>
          </a:p>
        </p:txBody>
      </p:sp>
      <p:sp>
        <p:nvSpPr>
          <p:cNvPr id="234" name="Google Shape;234;g36749ec0079_2_1"/>
          <p:cNvSpPr txBox="1"/>
          <p:nvPr/>
        </p:nvSpPr>
        <p:spPr>
          <a:xfrm>
            <a:off x="13899862" y="3436900"/>
            <a:ext cx="385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43"/>
              <a:buFont typeface="Arial"/>
              <a:buNone/>
            </a:pPr>
            <a:r>
              <a:t/>
            </a:r>
            <a:endParaRPr b="0" i="0" sz="12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36749ec0079_2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3500" y="3308125"/>
            <a:ext cx="6960900" cy="664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4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Retrospectiva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8649" y="2446450"/>
            <a:ext cx="13610700" cy="69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 rot="1528391">
            <a:off x="-292533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5"/>
          <p:cNvSpPr/>
          <p:nvPr/>
        </p:nvSpPr>
        <p:spPr>
          <a:xfrm flipH="1" rot="-1282465">
            <a:off x="15938067" y="581274"/>
            <a:ext cx="2683894" cy="2425264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Tabla de esfuerzo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40725" y="1845975"/>
            <a:ext cx="10608825" cy="83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495A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6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Burn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49325" y="2758800"/>
            <a:ext cx="6710975" cy="545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9202" y="2727125"/>
            <a:ext cx="8443507" cy="54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/>
          <p:nvPr/>
        </p:nvSpPr>
        <p:spPr>
          <a:xfrm rot="1528540">
            <a:off x="-292412" y="581168"/>
            <a:ext cx="2683097" cy="2424544"/>
          </a:xfrm>
          <a:custGeom>
            <a:rect b="b" l="l" r="r" t="t"/>
            <a:pathLst>
              <a:path extrusionOk="0" h="2425264" w="2683894">
                <a:moveTo>
                  <a:pt x="0" y="0"/>
                </a:moveTo>
                <a:lnTo>
                  <a:pt x="2683894" y="0"/>
                </a:lnTo>
                <a:lnTo>
                  <a:pt x="2683894" y="2425264"/>
                </a:lnTo>
                <a:lnTo>
                  <a:pt x="0" y="242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 flipH="1" rot="-1285720">
            <a:off x="15941615" y="581657"/>
            <a:ext cx="2681377" cy="2422989"/>
          </a:xfrm>
          <a:custGeom>
            <a:rect b="b" l="l" r="r" t="t"/>
            <a:pathLst>
              <a:path extrusionOk="0" h="2425264" w="2683894">
                <a:moveTo>
                  <a:pt x="2683894" y="0"/>
                </a:moveTo>
                <a:lnTo>
                  <a:pt x="0" y="0"/>
                </a:lnTo>
                <a:lnTo>
                  <a:pt x="0" y="2425264"/>
                </a:lnTo>
                <a:lnTo>
                  <a:pt x="2683894" y="2425264"/>
                </a:lnTo>
                <a:lnTo>
                  <a:pt x="26838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3117883" y="866775"/>
            <a:ext cx="12052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Burn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8536" y="3466425"/>
            <a:ext cx="7323889" cy="51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6927" y="3486900"/>
            <a:ext cx="7785523" cy="512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A655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"/>
          <p:cNvSpPr/>
          <p:nvPr/>
        </p:nvSpPr>
        <p:spPr>
          <a:xfrm rot="-5400000">
            <a:off x="2305967" y="-4046210"/>
            <a:ext cx="3239213" cy="9578319"/>
          </a:xfrm>
          <a:custGeom>
            <a:rect b="b" l="l" r="r" t="t"/>
            <a:pathLst>
              <a:path extrusionOk="0" h="9578319" w="3239213">
                <a:moveTo>
                  <a:pt x="0" y="0"/>
                </a:moveTo>
                <a:lnTo>
                  <a:pt x="3239214" y="0"/>
                </a:lnTo>
                <a:lnTo>
                  <a:pt x="3239214" y="9578320"/>
                </a:lnTo>
                <a:lnTo>
                  <a:pt x="0" y="957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4344674" y="3446615"/>
            <a:ext cx="9598652" cy="3327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3"/>
              <a:buFont typeface="Arial"/>
              <a:buNone/>
            </a:pPr>
            <a:r>
              <a:rPr b="1" i="0" lang="en-US" sz="10883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 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8"/>
          <p:cNvSpPr/>
          <p:nvPr/>
        </p:nvSpPr>
        <p:spPr>
          <a:xfrm rot="5400000">
            <a:off x="12752344" y="4745365"/>
            <a:ext cx="3239213" cy="9578319"/>
          </a:xfrm>
          <a:custGeom>
            <a:rect b="b" l="l" r="r" t="t"/>
            <a:pathLst>
              <a:path extrusionOk="0" h="9578319" w="3239213">
                <a:moveTo>
                  <a:pt x="0" y="0"/>
                </a:moveTo>
                <a:lnTo>
                  <a:pt x="3239214" y="0"/>
                </a:lnTo>
                <a:lnTo>
                  <a:pt x="3239214" y="9578320"/>
                </a:lnTo>
                <a:lnTo>
                  <a:pt x="0" y="9578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