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  <p15:guide id="3" orient="horz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gk2CHVbihtQPYTixqwIjwKIU20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749ec0079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6749ec0079_2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749ec0079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6749ec0079_2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900a300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8900a3008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900a3008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8900a3008d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9e6ed75e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99e6ed75e4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9f625721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99f6257216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9f625721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99f6257216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9f62572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99f6257216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9e6ed75e4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99e6ed75e4_1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257086" y="1618915"/>
            <a:ext cx="3767311" cy="3874774"/>
            <a:chOff x="0" y="-47625"/>
            <a:chExt cx="992214" cy="1020517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992214" cy="972892"/>
            </a:xfrm>
            <a:custGeom>
              <a:rect b="b" l="l" r="r" t="t"/>
              <a:pathLst>
                <a:path extrusionOk="0" h="972892" w="992214">
                  <a:moveTo>
                    <a:pt x="0" y="0"/>
                  </a:moveTo>
                  <a:lnTo>
                    <a:pt x="992214" y="0"/>
                  </a:lnTo>
                  <a:lnTo>
                    <a:pt x="992214" y="972892"/>
                  </a:lnTo>
                  <a:lnTo>
                    <a:pt x="0" y="972892"/>
                  </a:ln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992214" cy="1020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-2493290" y="867461"/>
            <a:ext cx="5558508" cy="5558508"/>
          </a:xfrm>
          <a:custGeom>
            <a:rect b="b" l="l" r="r" t="t"/>
            <a:pathLst>
              <a:path extrusionOk="0" h="5558508" w="5558508">
                <a:moveTo>
                  <a:pt x="0" y="0"/>
                </a:moveTo>
                <a:lnTo>
                  <a:pt x="5558508" y="0"/>
                </a:lnTo>
                <a:lnTo>
                  <a:pt x="5558508" y="5558508"/>
                </a:lnTo>
                <a:lnTo>
                  <a:pt x="0" y="5558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065218" y="1826714"/>
            <a:ext cx="12274500" cy="56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rPr b="1" i="0" lang="en-US" sz="877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Proyecto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rPr b="1" i="0" lang="en-US" sz="877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Gestión Documental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t/>
            </a:r>
            <a:endParaRPr b="1" i="0" sz="87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t/>
            </a:r>
            <a:endParaRPr b="1" i="0" sz="87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167068" y="5493737"/>
            <a:ext cx="106644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70"/>
              <a:buFont typeface="Arial"/>
              <a:buNone/>
            </a:pPr>
            <a:r>
              <a:rPr b="1" lang="en-US" sz="4170"/>
              <a:t>GRUPO - 13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 rot="10800000">
            <a:off x="15781633" y="5255577"/>
            <a:ext cx="3767311" cy="6148240"/>
            <a:chOff x="0" y="-47625"/>
            <a:chExt cx="992214" cy="161929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992214" cy="1571665"/>
            </a:xfrm>
            <a:custGeom>
              <a:rect b="b" l="l" r="r" t="t"/>
              <a:pathLst>
                <a:path extrusionOk="0" h="1571665" w="992214">
                  <a:moveTo>
                    <a:pt x="0" y="0"/>
                  </a:moveTo>
                  <a:lnTo>
                    <a:pt x="992214" y="0"/>
                  </a:lnTo>
                  <a:lnTo>
                    <a:pt x="992214" y="1571665"/>
                  </a:lnTo>
                  <a:lnTo>
                    <a:pt x="0" y="1571665"/>
                  </a:ln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47625"/>
              <a:ext cx="992214" cy="1619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/>
          <p:nvPr/>
        </p:nvSpPr>
        <p:spPr>
          <a:xfrm rot="10800000">
            <a:off x="15278681" y="4192518"/>
            <a:ext cx="7969027" cy="7969027"/>
          </a:xfrm>
          <a:custGeom>
            <a:rect b="b" l="l" r="r" t="t"/>
            <a:pathLst>
              <a:path extrusionOk="0" h="7969027" w="7969027">
                <a:moveTo>
                  <a:pt x="0" y="0"/>
                </a:moveTo>
                <a:lnTo>
                  <a:pt x="7969027" y="0"/>
                </a:lnTo>
                <a:lnTo>
                  <a:pt x="7969027" y="7969028"/>
                </a:lnTo>
                <a:lnTo>
                  <a:pt x="0" y="79690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284293" y="6424865"/>
            <a:ext cx="4392300" cy="4369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MATT BELIZARIO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MATÍAS GODOY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CÉSAR LÓPEZ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DANIEL PAREDES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NICOLAS SANDOVAL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MARCO SOLAR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55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None/>
            </a:pPr>
            <a:r>
              <a:t/>
            </a:r>
            <a:endParaRPr b="0" i="0" sz="247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"/>
          <p:cNvGrpSpPr/>
          <p:nvPr/>
        </p:nvGrpSpPr>
        <p:grpSpPr>
          <a:xfrm rot="-5400000">
            <a:off x="2095639" y="-1763055"/>
            <a:ext cx="1586542" cy="5966568"/>
            <a:chOff x="0" y="-47625"/>
            <a:chExt cx="534441" cy="275083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534441" cy="2703213"/>
            </a:xfrm>
            <a:custGeom>
              <a:rect b="b" l="l" r="r" t="t"/>
              <a:pathLst>
                <a:path extrusionOk="0" h="2703213" w="534441">
                  <a:moveTo>
                    <a:pt x="178243" y="2684144"/>
                  </a:moveTo>
                  <a:cubicBezTo>
                    <a:pt x="205643" y="2695658"/>
                    <a:pt x="236792" y="2703213"/>
                    <a:pt x="267364" y="2703213"/>
                  </a:cubicBezTo>
                  <a:cubicBezTo>
                    <a:pt x="297938" y="2703213"/>
                    <a:pt x="327357" y="2696736"/>
                    <a:pt x="354467" y="2685222"/>
                  </a:cubicBezTo>
                  <a:cubicBezTo>
                    <a:pt x="355045" y="2684863"/>
                    <a:pt x="355621" y="2684863"/>
                    <a:pt x="356198" y="2684503"/>
                  </a:cubicBezTo>
                  <a:cubicBezTo>
                    <a:pt x="458010" y="2638448"/>
                    <a:pt x="532999" y="2516834"/>
                    <a:pt x="534441" y="2332720"/>
                  </a:cubicBezTo>
                  <a:lnTo>
                    <a:pt x="534441" y="0"/>
                  </a:lnTo>
                  <a:lnTo>
                    <a:pt x="0" y="0"/>
                  </a:lnTo>
                  <a:lnTo>
                    <a:pt x="0" y="2330989"/>
                  </a:lnTo>
                  <a:cubicBezTo>
                    <a:pt x="1442" y="2517553"/>
                    <a:pt x="75277" y="2639168"/>
                    <a:pt x="178243" y="2684144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-47625"/>
              <a:ext cx="534441" cy="2623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 rot="-5400000">
            <a:off x="9302284" y="1252912"/>
            <a:ext cx="9756645" cy="8698504"/>
          </a:xfrm>
          <a:custGeom>
            <a:rect b="b" l="l" r="r" t="t"/>
            <a:pathLst>
              <a:path extrusionOk="0" h="8698504" w="9756645">
                <a:moveTo>
                  <a:pt x="0" y="0"/>
                </a:moveTo>
                <a:lnTo>
                  <a:pt x="9756645" y="0"/>
                </a:lnTo>
                <a:lnTo>
                  <a:pt x="9756645" y="8698504"/>
                </a:lnTo>
                <a:lnTo>
                  <a:pt x="0" y="8698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68" l="-78" r="-7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683515" y="793625"/>
            <a:ext cx="24108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43"/>
              <a:buFont typeface="Arial"/>
              <a:buNone/>
            </a:pPr>
            <a:r>
              <a:rPr b="1" i="0" lang="en-US" sz="554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39277" y="2395769"/>
            <a:ext cx="14556300" cy="3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Introducción del proyecto y Propuesta de solución e incremento.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0" i="0" sz="29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Propuesta de solución</a:t>
            </a:r>
            <a:endParaRPr b="0" i="0" sz="29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SCRUM 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Diagramas (Diagrama de Clase, Secuencia del diseño, de Componentes, de despliegue)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 rot="1528540">
            <a:off x="-292412" y="4287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3117883" y="828675"/>
            <a:ext cx="12052234" cy="122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5"/>
              <a:buFont typeface="Arial"/>
              <a:buNone/>
            </a:pPr>
            <a:r>
              <a:rPr b="1" i="0" lang="en-US" sz="675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 flipH="1" rot="-1285720">
            <a:off x="15941615" y="365032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3"/>
          <p:cNvGrpSpPr/>
          <p:nvPr/>
        </p:nvGrpSpPr>
        <p:grpSpPr>
          <a:xfrm>
            <a:off x="2293950" y="6175273"/>
            <a:ext cx="6222865" cy="1582060"/>
            <a:chOff x="0" y="-38100"/>
            <a:chExt cx="1638933" cy="757474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1638933" cy="719374"/>
            </a:xfrm>
            <a:custGeom>
              <a:rect b="b" l="l" r="r" t="t"/>
              <a:pathLst>
                <a:path extrusionOk="0" h="719374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5924"/>
                  </a:lnTo>
                  <a:cubicBezTo>
                    <a:pt x="1638933" y="672752"/>
                    <a:pt x="1632248" y="688891"/>
                    <a:pt x="1620349" y="700790"/>
                  </a:cubicBezTo>
                  <a:cubicBezTo>
                    <a:pt x="1608450" y="712690"/>
                    <a:pt x="1592311" y="719374"/>
                    <a:pt x="1575483" y="719374"/>
                  </a:cubicBezTo>
                  <a:lnTo>
                    <a:pt x="63450" y="719374"/>
                  </a:lnTo>
                  <a:cubicBezTo>
                    <a:pt x="46622" y="719374"/>
                    <a:pt x="30483" y="712690"/>
                    <a:pt x="18584" y="700790"/>
                  </a:cubicBezTo>
                  <a:cubicBezTo>
                    <a:pt x="6685" y="688891"/>
                    <a:pt x="0" y="672752"/>
                    <a:pt x="0" y="655924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-38100"/>
              <a:ext cx="1638933" cy="757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3"/>
          <p:cNvGrpSpPr/>
          <p:nvPr/>
        </p:nvGrpSpPr>
        <p:grpSpPr>
          <a:xfrm>
            <a:off x="10095863" y="6175277"/>
            <a:ext cx="6222865" cy="1582054"/>
            <a:chOff x="0" y="-38100"/>
            <a:chExt cx="1638933" cy="752356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638933" cy="714256"/>
            </a:xfrm>
            <a:custGeom>
              <a:rect b="b" l="l" r="r" t="t"/>
              <a:pathLst>
                <a:path extrusionOk="0" h="714256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0806"/>
                  </a:lnTo>
                  <a:cubicBezTo>
                    <a:pt x="1638933" y="667634"/>
                    <a:pt x="1632248" y="683772"/>
                    <a:pt x="1620349" y="695672"/>
                  </a:cubicBezTo>
                  <a:cubicBezTo>
                    <a:pt x="1608450" y="707571"/>
                    <a:pt x="1592311" y="714256"/>
                    <a:pt x="1575483" y="714256"/>
                  </a:cubicBezTo>
                  <a:lnTo>
                    <a:pt x="63450" y="714256"/>
                  </a:lnTo>
                  <a:cubicBezTo>
                    <a:pt x="46622" y="714256"/>
                    <a:pt x="30483" y="707571"/>
                    <a:pt x="18584" y="695672"/>
                  </a:cubicBezTo>
                  <a:cubicBezTo>
                    <a:pt x="6685" y="683772"/>
                    <a:pt x="0" y="667634"/>
                    <a:pt x="0" y="650806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F9D4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0" y="-38100"/>
              <a:ext cx="1638933" cy="752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3"/>
          <p:cNvSpPr txBox="1"/>
          <p:nvPr/>
        </p:nvSpPr>
        <p:spPr>
          <a:xfrm>
            <a:off x="2293951" y="4983275"/>
            <a:ext cx="52065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Funcionalidades</a:t>
            </a:r>
            <a:r>
              <a:rPr b="1" lang="en-US" sz="4043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2080193" y="5294530"/>
            <a:ext cx="22542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Enfoque: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2503643" y="6312101"/>
            <a:ext cx="5803500" cy="1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8" lvl="1" marL="474977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Font typeface="Arial"/>
              <a:buChar char="•"/>
            </a:pPr>
            <a:r>
              <a:rPr lang="en-US" sz="2199">
                <a:solidFill>
                  <a:srgbClr val="F8F8F8"/>
                </a:solidFill>
              </a:rPr>
              <a:t>Subida de documentos</a:t>
            </a: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8" lvl="1" marL="474977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Font typeface="Arial"/>
              <a:buChar char="•"/>
            </a:pPr>
            <a:r>
              <a:rPr lang="en-US" sz="2199">
                <a:solidFill>
                  <a:srgbClr val="F8F8F8"/>
                </a:solidFill>
              </a:rPr>
              <a:t>Reportando satisfacción</a:t>
            </a:r>
            <a:endParaRPr sz="2199">
              <a:solidFill>
                <a:srgbClr val="F8F8F8"/>
              </a:solidFill>
            </a:endParaRPr>
          </a:p>
          <a:p>
            <a:pPr indent="-237488" lvl="1" marL="474977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Char char="•"/>
            </a:pPr>
            <a:r>
              <a:rPr lang="en-US" sz="2199">
                <a:solidFill>
                  <a:srgbClr val="F8F8F8"/>
                </a:solidFill>
              </a:rPr>
              <a:t>Comentando documento</a:t>
            </a:r>
            <a:endParaRPr sz="2199">
              <a:solidFill>
                <a:srgbClr val="F8F8F8"/>
              </a:solidFill>
            </a:endParaRPr>
          </a:p>
          <a:p>
            <a:pPr indent="0" lvl="0" marL="91440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0305538" y="6323110"/>
            <a:ext cx="58035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8" lvl="1" marL="474977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199"/>
              <a:buFont typeface="Arial"/>
              <a:buChar char="•"/>
            </a:pPr>
            <a:r>
              <a:rPr lang="en-US" sz="2199">
                <a:solidFill>
                  <a:srgbClr val="4495A2"/>
                </a:solidFill>
              </a:rPr>
              <a:t>Ingreso de archivos</a:t>
            </a:r>
            <a:endParaRPr sz="2199">
              <a:solidFill>
                <a:srgbClr val="4495A2"/>
              </a:solidFill>
            </a:endParaRPr>
          </a:p>
          <a:p>
            <a:pPr indent="-237488" lvl="1" marL="474977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199"/>
              <a:buChar char="•"/>
            </a:pPr>
            <a:r>
              <a:rPr lang="en-US" sz="2199">
                <a:solidFill>
                  <a:srgbClr val="4495A2"/>
                </a:solidFill>
              </a:rPr>
              <a:t>Análisis</a:t>
            </a:r>
            <a:r>
              <a:rPr lang="en-US" sz="2199">
                <a:solidFill>
                  <a:srgbClr val="4495A2"/>
                </a:solidFill>
              </a:rPr>
              <a:t> de datos</a:t>
            </a:r>
            <a:endParaRPr sz="2199">
              <a:solidFill>
                <a:srgbClr val="4495A2"/>
              </a:solidFill>
            </a:endParaRPr>
          </a:p>
          <a:p>
            <a:pPr indent="-237488" lvl="1" marL="474977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199"/>
              <a:buChar char="•"/>
            </a:pPr>
            <a:r>
              <a:rPr lang="en-US" sz="2199">
                <a:solidFill>
                  <a:srgbClr val="4495A2"/>
                </a:solidFill>
              </a:rPr>
              <a:t>retroalimentación</a:t>
            </a:r>
            <a:endParaRPr sz="2199">
              <a:solidFill>
                <a:srgbClr val="4495A2"/>
              </a:solidFill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2515825" y="2185276"/>
            <a:ext cx="13256400" cy="27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lang="en-US" sz="2199">
                <a:solidFill>
                  <a:srgbClr val="F8F8F8"/>
                </a:solidFill>
              </a:rPr>
              <a:t>El Sistema de Gestión Documental para la Fundación Ciudad del Niño ha completado su desarrollo, alcanzando el 100% del alcance definido a través de los cuatro incrementos planificados.</a:t>
            </a:r>
            <a:endParaRPr sz="2199">
              <a:solidFill>
                <a:srgbClr val="F8F8F8"/>
              </a:solidFill>
            </a:endParaRPr>
          </a:p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/>
            </a:r>
            <a:endParaRPr sz="2199">
              <a:solidFill>
                <a:srgbClr val="F8F8F8"/>
              </a:solidFill>
            </a:endParaRPr>
          </a:p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lang="en-US" sz="2199">
                <a:solidFill>
                  <a:srgbClr val="F8F8F8"/>
                </a:solidFill>
              </a:rPr>
              <a:t>Para finalizar la documentación y demostrar la robustez del diseño, la presente exposición se enfoca en la trazabilidad completa de tres casos de uso de un total de 52, considerados fundamentales o de alto impacto para la operación de la fundación:</a:t>
            </a:r>
            <a:endParaRPr sz="2199">
              <a:solidFill>
                <a:srgbClr val="F8F8F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15779768" y="0"/>
            <a:ext cx="2508232" cy="3592519"/>
          </a:xfrm>
          <a:custGeom>
            <a:rect b="b" l="l" r="r" t="t"/>
            <a:pathLst>
              <a:path extrusionOk="0" h="3592519" w="2508232">
                <a:moveTo>
                  <a:pt x="0" y="0"/>
                </a:moveTo>
                <a:lnTo>
                  <a:pt x="2508232" y="0"/>
                </a:lnTo>
                <a:lnTo>
                  <a:pt x="2508232" y="3592519"/>
                </a:lnTo>
                <a:lnTo>
                  <a:pt x="0" y="3592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152650" y="883291"/>
            <a:ext cx="117144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b="1" i="0" lang="en-US" sz="6950" u="none" cap="none" strike="noStrike">
                <a:solidFill>
                  <a:srgbClr val="7CA655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158757" y="3611569"/>
            <a:ext cx="4732832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8"/>
              <a:buFont typeface="Arial"/>
              <a:buNone/>
            </a:pPr>
            <a:r>
              <a:rPr b="1" i="0" lang="en-US" sz="349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 General: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028700" y="4541919"/>
            <a:ext cx="6200100" cy="4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rPr b="1" i="0" lang="en-US" sz="277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Desarrollar un sistema informático de gestión documental con el propósito de centralizar la información de los programas de protección infantil en la Fundación Ciudad del Niño.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8889378" y="3611569"/>
            <a:ext cx="5506778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8"/>
              <a:buFont typeface="Arial"/>
              <a:buNone/>
            </a:pPr>
            <a:r>
              <a:rPr b="1" i="0" lang="en-US" sz="349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Específicos: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413705" y="4522869"/>
            <a:ext cx="7877100" cy="4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9107" lvl="1" marL="598214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70"/>
              <a:buFont typeface="Arial"/>
              <a:buChar char="•"/>
            </a:pPr>
            <a:r>
              <a:rPr b="1" i="0" lang="en-US" sz="277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Diseñar un sistema, que funcione correctamente y pueda modificarse según las futuras necesidades de la fundación.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9107" lvl="1" marL="598214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70"/>
              <a:buFont typeface="Arial"/>
              <a:buChar char="•"/>
            </a:pPr>
            <a:r>
              <a:rPr b="1" i="0" lang="en-US" sz="277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Desarrollar un sistema, con el objetivo de facilitar la supervisión institucional</a:t>
            </a:r>
            <a:r>
              <a:rPr b="1" lang="en-US" sz="277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b="1" i="0" lang="en-US" sz="277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mejora</a:t>
            </a:r>
            <a:r>
              <a:rPr b="1" lang="en-US" sz="277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ndo</a:t>
            </a:r>
            <a:r>
              <a:rPr b="1" i="0" lang="en-US" sz="277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la usabilidad y la toma de decisiones basada en datos reales.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0" y="62913"/>
            <a:ext cx="7315200" cy="1383238"/>
          </a:xfrm>
          <a:custGeom>
            <a:rect b="b" l="l" r="r" t="t"/>
            <a:pathLst>
              <a:path extrusionOk="0"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749ec0079_2_41"/>
          <p:cNvSpPr/>
          <p:nvPr/>
        </p:nvSpPr>
        <p:spPr>
          <a:xfrm>
            <a:off x="15779768" y="0"/>
            <a:ext cx="2508232" cy="3592519"/>
          </a:xfrm>
          <a:custGeom>
            <a:rect b="b" l="l" r="r" t="t"/>
            <a:pathLst>
              <a:path extrusionOk="0" h="3592519" w="2508232">
                <a:moveTo>
                  <a:pt x="0" y="0"/>
                </a:moveTo>
                <a:lnTo>
                  <a:pt x="2508232" y="0"/>
                </a:lnTo>
                <a:lnTo>
                  <a:pt x="2508232" y="3592519"/>
                </a:lnTo>
                <a:lnTo>
                  <a:pt x="0" y="3592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6749ec0079_2_41"/>
          <p:cNvSpPr txBox="1"/>
          <p:nvPr/>
        </p:nvSpPr>
        <p:spPr>
          <a:xfrm>
            <a:off x="2152650" y="883291"/>
            <a:ext cx="117144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b="1" i="0" lang="en-US" sz="6950" u="none" cap="none" strike="noStrike">
                <a:solidFill>
                  <a:srgbClr val="7CA655"/>
                </a:solidFill>
                <a:latin typeface="Poppins"/>
                <a:ea typeface="Poppins"/>
                <a:cs typeface="Poppins"/>
                <a:sym typeface="Poppins"/>
              </a:rPr>
              <a:t>Alcance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6749ec0079_2_41"/>
          <p:cNvSpPr txBox="1"/>
          <p:nvPr/>
        </p:nvSpPr>
        <p:spPr>
          <a:xfrm>
            <a:off x="1028700" y="4541919"/>
            <a:ext cx="62001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g36749ec0079_2_41"/>
          <p:cNvSpPr txBox="1"/>
          <p:nvPr/>
        </p:nvSpPr>
        <p:spPr>
          <a:xfrm>
            <a:off x="2152650" y="2745725"/>
            <a:ext cx="13323600" cy="6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propone y se ha desarrollado una Plataforma Web de Gestión Documental robusta, diseñada para centralizar la información institucional de la Fundación Ciudad del Niño y facilitar la toma de decisiones.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solución se basa en una arquitectura que garantiza la seguridad, la trazabilidad y la escalabilidad del sistema, abordando directamente las debilidades identificadas en el manejo de documentos.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arquitectura soporta funcionalidades críticas para la operación, las cuales serán validadas en esta presentación: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</a:rPr>
              <a:t>Operación Central: Asegurada por la funcionalidad de Subida de Documentos.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</a:rPr>
              <a:t>Análisis de datos: Asegurada por la funcionalidad de Encuesta de satisfacción.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</a:rPr>
              <a:t>Retroalimentación: Asegurada por la funcionalidad de comentar documento.</a:t>
            </a:r>
            <a:endParaRPr b="1" i="0" sz="277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g36749ec0079_2_41"/>
          <p:cNvSpPr/>
          <p:nvPr/>
        </p:nvSpPr>
        <p:spPr>
          <a:xfrm>
            <a:off x="0" y="62913"/>
            <a:ext cx="7315200" cy="1383238"/>
          </a:xfrm>
          <a:custGeom>
            <a:rect b="b" l="l" r="r" t="t"/>
            <a:pathLst>
              <a:path extrusionOk="0"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 rot="1528540">
            <a:off x="-43937" y="298893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3117908" y="507625"/>
            <a:ext cx="120522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 AL SCRUM ++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Backlog List</a:t>
            </a:r>
            <a:endParaRPr b="1" i="0" sz="5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741378" y="7104392"/>
            <a:ext cx="1427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8F8F8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938" y="5700650"/>
            <a:ext cx="16912136" cy="2382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CLASES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4500" y="2004450"/>
            <a:ext cx="13946924" cy="76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749ec0079_2_33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6749ec0079_2_33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6749ec0079_2_33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Modelo fisico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6749ec0079_2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450" y="2452575"/>
            <a:ext cx="16636801" cy="71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3159311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COMPONENTES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013" y="2274550"/>
            <a:ext cx="15444826" cy="709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0650" y="1984975"/>
            <a:ext cx="11986700" cy="7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900a3008d_0_0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8900a3008d_0_0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8900a3008d_0_0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8900a3008d_0_0"/>
          <p:cNvSpPr txBox="1"/>
          <p:nvPr/>
        </p:nvSpPr>
        <p:spPr>
          <a:xfrm>
            <a:off x="3611375" y="1835650"/>
            <a:ext cx="110652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31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A Continuación se presenta</a:t>
            </a:r>
            <a:r>
              <a:rPr lang="en-US" sz="3100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r>
              <a:rPr b="0" i="0" lang="en-US" sz="31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 de los </a:t>
            </a:r>
            <a:r>
              <a:rPr lang="en-US" sz="3100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r>
              <a:rPr b="0" i="0" lang="en-US" sz="31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 casos de uso que se </a:t>
            </a:r>
            <a:r>
              <a:rPr lang="en-US" sz="3100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desarrollaron en los 4 incrementos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8900a3008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475" y="3019925"/>
            <a:ext cx="12052200" cy="686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900a3008d_0_8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8900a3008d_0_8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8900a3008d_0_8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USO</a:t>
            </a:r>
            <a:endParaRPr b="1" i="0" sz="5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0" name="Google Shape;200;g38900a3008d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9400" y="1941350"/>
            <a:ext cx="10631925" cy="807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9e6ed75e4_1_6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99e6ed75e4_1_6"/>
          <p:cNvSpPr/>
          <p:nvPr/>
        </p:nvSpPr>
        <p:spPr>
          <a:xfrm flipH="1" rot="-1285720">
            <a:off x="15941616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99e6ed75e4_1_6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USO</a:t>
            </a:r>
            <a:endParaRPr b="1" i="0" sz="5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g399e6ed75e4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5450" y="1939498"/>
            <a:ext cx="7797050" cy="762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9f6257216_0_7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99f6257216_0_7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99f6257216_0_7"/>
          <p:cNvSpPr txBox="1"/>
          <p:nvPr/>
        </p:nvSpPr>
        <p:spPr>
          <a:xfrm>
            <a:off x="3117883" y="866775"/>
            <a:ext cx="120522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SECUENCIA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99f6257216_0_7"/>
          <p:cNvSpPr txBox="1"/>
          <p:nvPr/>
        </p:nvSpPr>
        <p:spPr>
          <a:xfrm>
            <a:off x="1451150" y="3133675"/>
            <a:ext cx="79506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6873" lvl="1" marL="77724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Caso de uso: </a:t>
            </a:r>
            <a:r>
              <a:rPr b="1" lang="en-US" sz="3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Subiendo documentos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99f6257216_0_7"/>
          <p:cNvSpPr txBox="1"/>
          <p:nvPr/>
        </p:nvSpPr>
        <p:spPr>
          <a:xfrm>
            <a:off x="9782625" y="3031700"/>
            <a:ext cx="67818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0521" lvl="1" marL="77724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Total Casos de uso= </a:t>
            </a:r>
            <a:r>
              <a:rPr b="1" lang="en-US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52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g399f6257216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9300" y="4065800"/>
            <a:ext cx="14249400" cy="59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9f6257216_0_16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99f6257216_0_16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99f6257216_0_16"/>
          <p:cNvSpPr txBox="1"/>
          <p:nvPr/>
        </p:nvSpPr>
        <p:spPr>
          <a:xfrm>
            <a:off x="3117883" y="866775"/>
            <a:ext cx="120522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SECUENCIA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99f6257216_0_16"/>
          <p:cNvSpPr txBox="1"/>
          <p:nvPr/>
        </p:nvSpPr>
        <p:spPr>
          <a:xfrm>
            <a:off x="1451150" y="3133675"/>
            <a:ext cx="88512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6873" lvl="1" marL="77724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Caso de uso: </a:t>
            </a:r>
            <a:r>
              <a:rPr b="1" lang="en-US" sz="3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Reportando satisfacción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99f6257216_0_16"/>
          <p:cNvSpPr txBox="1"/>
          <p:nvPr/>
        </p:nvSpPr>
        <p:spPr>
          <a:xfrm>
            <a:off x="9782625" y="3031700"/>
            <a:ext cx="67818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0521" lvl="1" marL="77724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Total Casos de uso= </a:t>
            </a:r>
            <a:r>
              <a:rPr b="1" lang="en-US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52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g399f6257216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4275" y="4153350"/>
            <a:ext cx="12919400" cy="511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9f6257216_0_25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99f6257216_0_25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99f6257216_0_25"/>
          <p:cNvSpPr txBox="1"/>
          <p:nvPr/>
        </p:nvSpPr>
        <p:spPr>
          <a:xfrm>
            <a:off x="3117883" y="866775"/>
            <a:ext cx="120522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SECUENCIA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99f6257216_0_25"/>
          <p:cNvSpPr txBox="1"/>
          <p:nvPr/>
        </p:nvSpPr>
        <p:spPr>
          <a:xfrm>
            <a:off x="1451150" y="3133675"/>
            <a:ext cx="88359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6873" lvl="1" marL="777247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b="1" i="0" lang="en-US" sz="3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Caso de uso: Comentando Docume</a:t>
            </a:r>
            <a:r>
              <a:rPr b="1" lang="en-US" sz="3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ntos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99f6257216_0_25"/>
          <p:cNvSpPr txBox="1"/>
          <p:nvPr/>
        </p:nvSpPr>
        <p:spPr>
          <a:xfrm>
            <a:off x="9782625" y="3031700"/>
            <a:ext cx="67818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0521" lvl="1" marL="777247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Total Casos de uso= </a:t>
            </a:r>
            <a:r>
              <a:rPr b="1" lang="en-US" sz="3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52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99f6257216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3276" y="4081017"/>
            <a:ext cx="12841451" cy="50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9e6ed75e4_1_36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99e6ed75e4_1_36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99e6ed75e4_1_36"/>
          <p:cNvSpPr txBox="1"/>
          <p:nvPr/>
        </p:nvSpPr>
        <p:spPr>
          <a:xfrm>
            <a:off x="2781683" y="4109100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