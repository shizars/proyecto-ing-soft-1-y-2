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10287000" cx="18288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  <p15:guide id="3" orient="horz">
          <p15:clr>
            <a:srgbClr val="747775"/>
          </p15:clr>
        </p15:guide>
      </p15:sldGuideLst>
    </p:ext>
    <p:ext uri="GoogleSlidesCustomDataVersion2">
      <go:slidesCustomData xmlns:go="http://customooxmlschemas.google.com/" r:id="rId39" roundtripDataSignature="AMtx7mifvut3uuH8Eag1gHaFOz7oG096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33" Type="http://schemas.openxmlformats.org/officeDocument/2006/relationships/font" Target="fonts/Poppins-italic.fntdata"/><Relationship Id="rId10" Type="http://schemas.openxmlformats.org/officeDocument/2006/relationships/slide" Target="slides/slide5.xml"/><Relationship Id="rId32" Type="http://schemas.openxmlformats.org/officeDocument/2006/relationships/font" Target="fonts/Poppins-bold.fntdata"/><Relationship Id="rId13" Type="http://schemas.openxmlformats.org/officeDocument/2006/relationships/slide" Target="slides/slide8.xml"/><Relationship Id="rId35" Type="http://schemas.openxmlformats.org/officeDocument/2006/relationships/font" Target="fonts/OpenSans-regular.fntdata"/><Relationship Id="rId12" Type="http://schemas.openxmlformats.org/officeDocument/2006/relationships/slide" Target="slides/slide7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italic.fntdata"/><Relationship Id="rId14" Type="http://schemas.openxmlformats.org/officeDocument/2006/relationships/slide" Target="slides/slide9.xml"/><Relationship Id="rId36" Type="http://schemas.openxmlformats.org/officeDocument/2006/relationships/font" Target="fonts/OpenSans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749ec0079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6749ec0079_2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749ec0079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6749ec0079_2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900a300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8900a3008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900a3008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38900a3008d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6749ec0079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36749ec0079_2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1257086" y="1618915"/>
            <a:ext cx="3767311" cy="3874774"/>
            <a:chOff x="0" y="-47625"/>
            <a:chExt cx="992214" cy="1020517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992214" cy="972892"/>
            </a:xfrm>
            <a:custGeom>
              <a:rect b="b" l="l" r="r" t="t"/>
              <a:pathLst>
                <a:path extrusionOk="0" h="972892" w="992214">
                  <a:moveTo>
                    <a:pt x="0" y="0"/>
                  </a:moveTo>
                  <a:lnTo>
                    <a:pt x="992214" y="0"/>
                  </a:lnTo>
                  <a:lnTo>
                    <a:pt x="992214" y="972892"/>
                  </a:lnTo>
                  <a:lnTo>
                    <a:pt x="0" y="972892"/>
                  </a:lnTo>
                  <a:close/>
                </a:path>
              </a:pathLst>
            </a:custGeom>
            <a:solidFill>
              <a:srgbClr val="7CA65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992214" cy="10205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-2493290" y="867461"/>
            <a:ext cx="5558508" cy="5558508"/>
          </a:xfrm>
          <a:custGeom>
            <a:rect b="b" l="l" r="r" t="t"/>
            <a:pathLst>
              <a:path extrusionOk="0" h="5558508" w="5558508">
                <a:moveTo>
                  <a:pt x="0" y="0"/>
                </a:moveTo>
                <a:lnTo>
                  <a:pt x="5558508" y="0"/>
                </a:lnTo>
                <a:lnTo>
                  <a:pt x="5558508" y="5558508"/>
                </a:lnTo>
                <a:lnTo>
                  <a:pt x="0" y="5558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065218" y="1826714"/>
            <a:ext cx="12274500" cy="56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71"/>
              <a:buFont typeface="Arial"/>
              <a:buNone/>
            </a:pPr>
            <a:r>
              <a:rPr b="1" i="0" lang="en-US" sz="877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Proyecto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71"/>
              <a:buFont typeface="Arial"/>
              <a:buNone/>
            </a:pPr>
            <a:r>
              <a:rPr b="1" i="0" lang="en-US" sz="877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Gestión Documental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71"/>
              <a:buFont typeface="Arial"/>
              <a:buNone/>
            </a:pPr>
            <a:r>
              <a:t/>
            </a:r>
            <a:endParaRPr b="1" i="0" sz="877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71"/>
              <a:buFont typeface="Arial"/>
              <a:buNone/>
            </a:pPr>
            <a:r>
              <a:t/>
            </a:r>
            <a:endParaRPr b="1" i="0" sz="877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065218" y="5855387"/>
            <a:ext cx="10664400" cy="6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70"/>
              <a:buFont typeface="Arial"/>
              <a:buNone/>
            </a:pPr>
            <a:r>
              <a:rPr lang="en-US" sz="4170"/>
              <a:t>TERCER</a:t>
            </a:r>
            <a:r>
              <a:rPr b="0" i="0" lang="en-US" sz="41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INCREMENTO (</a:t>
            </a:r>
            <a:r>
              <a:rPr lang="en-US" sz="4170"/>
              <a:t>95</a:t>
            </a:r>
            <a:r>
              <a:rPr b="0" i="0" lang="en-US" sz="41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" name="Google Shape;90;p1"/>
          <p:cNvGrpSpPr/>
          <p:nvPr/>
        </p:nvGrpSpPr>
        <p:grpSpPr>
          <a:xfrm rot="10800000">
            <a:off x="15781633" y="5255577"/>
            <a:ext cx="3767311" cy="6148240"/>
            <a:chOff x="0" y="-47625"/>
            <a:chExt cx="992214" cy="1619290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992214" cy="1571665"/>
            </a:xfrm>
            <a:custGeom>
              <a:rect b="b" l="l" r="r" t="t"/>
              <a:pathLst>
                <a:path extrusionOk="0" h="1571665" w="992214">
                  <a:moveTo>
                    <a:pt x="0" y="0"/>
                  </a:moveTo>
                  <a:lnTo>
                    <a:pt x="992214" y="0"/>
                  </a:lnTo>
                  <a:lnTo>
                    <a:pt x="992214" y="1571665"/>
                  </a:lnTo>
                  <a:lnTo>
                    <a:pt x="0" y="1571665"/>
                  </a:lnTo>
                  <a:close/>
                </a:path>
              </a:pathLst>
            </a:custGeom>
            <a:solidFill>
              <a:srgbClr val="7CA65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-47625"/>
              <a:ext cx="992214" cy="1619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"/>
          <p:cNvSpPr/>
          <p:nvPr/>
        </p:nvSpPr>
        <p:spPr>
          <a:xfrm rot="10800000">
            <a:off x="15278681" y="4192518"/>
            <a:ext cx="7969027" cy="7969027"/>
          </a:xfrm>
          <a:custGeom>
            <a:rect b="b" l="l" r="r" t="t"/>
            <a:pathLst>
              <a:path extrusionOk="0" h="7969027" w="7969027">
                <a:moveTo>
                  <a:pt x="0" y="0"/>
                </a:moveTo>
                <a:lnTo>
                  <a:pt x="7969027" y="0"/>
                </a:lnTo>
                <a:lnTo>
                  <a:pt x="7969027" y="7969028"/>
                </a:lnTo>
                <a:lnTo>
                  <a:pt x="0" y="79690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284293" y="6424865"/>
            <a:ext cx="4392300" cy="4369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INTEGRANTES: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MATT BELIZARIO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MATÍAS GODOY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CÉSAR LÓPEZ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DANIEL PAREDES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NICOLAS SANDOVAL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MARCO SOLAR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55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None/>
            </a:pPr>
            <a:r>
              <a:t/>
            </a:r>
            <a:endParaRPr b="0" i="0" sz="247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2"/>
          <p:cNvGrpSpPr/>
          <p:nvPr/>
        </p:nvGrpSpPr>
        <p:grpSpPr>
          <a:xfrm rot="-5400000">
            <a:off x="2095639" y="-1763055"/>
            <a:ext cx="1586542" cy="5966568"/>
            <a:chOff x="0" y="-47625"/>
            <a:chExt cx="534441" cy="2750838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534441" cy="2703213"/>
            </a:xfrm>
            <a:custGeom>
              <a:rect b="b" l="l" r="r" t="t"/>
              <a:pathLst>
                <a:path extrusionOk="0" h="2703213" w="534441">
                  <a:moveTo>
                    <a:pt x="178243" y="2684144"/>
                  </a:moveTo>
                  <a:cubicBezTo>
                    <a:pt x="205643" y="2695658"/>
                    <a:pt x="236792" y="2703213"/>
                    <a:pt x="267364" y="2703213"/>
                  </a:cubicBezTo>
                  <a:cubicBezTo>
                    <a:pt x="297938" y="2703213"/>
                    <a:pt x="327357" y="2696736"/>
                    <a:pt x="354467" y="2685222"/>
                  </a:cubicBezTo>
                  <a:cubicBezTo>
                    <a:pt x="355045" y="2684863"/>
                    <a:pt x="355621" y="2684863"/>
                    <a:pt x="356198" y="2684503"/>
                  </a:cubicBezTo>
                  <a:cubicBezTo>
                    <a:pt x="458010" y="2638448"/>
                    <a:pt x="532999" y="2516834"/>
                    <a:pt x="534441" y="2332720"/>
                  </a:cubicBezTo>
                  <a:lnTo>
                    <a:pt x="534441" y="0"/>
                  </a:lnTo>
                  <a:lnTo>
                    <a:pt x="0" y="0"/>
                  </a:lnTo>
                  <a:lnTo>
                    <a:pt x="0" y="2330989"/>
                  </a:lnTo>
                  <a:cubicBezTo>
                    <a:pt x="1442" y="2517553"/>
                    <a:pt x="75277" y="2639168"/>
                    <a:pt x="178243" y="2684144"/>
                  </a:cubicBezTo>
                  <a:close/>
                </a:path>
              </a:pathLst>
            </a:custGeom>
            <a:solidFill>
              <a:srgbClr val="7CA6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0" y="-47625"/>
              <a:ext cx="534441" cy="2623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2"/>
          <p:cNvSpPr/>
          <p:nvPr/>
        </p:nvSpPr>
        <p:spPr>
          <a:xfrm rot="-5400000">
            <a:off x="9302284" y="1252912"/>
            <a:ext cx="9756645" cy="8698504"/>
          </a:xfrm>
          <a:custGeom>
            <a:rect b="b" l="l" r="r" t="t"/>
            <a:pathLst>
              <a:path extrusionOk="0" h="8698504" w="9756645">
                <a:moveTo>
                  <a:pt x="0" y="0"/>
                </a:moveTo>
                <a:lnTo>
                  <a:pt x="9756645" y="0"/>
                </a:lnTo>
                <a:lnTo>
                  <a:pt x="9756645" y="8698504"/>
                </a:lnTo>
                <a:lnTo>
                  <a:pt x="0" y="86985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71" l="-79" r="-7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683515" y="793625"/>
            <a:ext cx="24108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43"/>
              <a:buFont typeface="Arial"/>
              <a:buNone/>
            </a:pPr>
            <a:r>
              <a:rPr b="1" i="0" lang="en-US" sz="554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INDICE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539277" y="2395769"/>
            <a:ext cx="145563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Introducción del proyecto y Propuesta de solución e incremento.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</a:t>
            </a:r>
            <a:endParaRPr b="0" i="0" sz="29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Propuesta de solución</a:t>
            </a:r>
            <a:endParaRPr b="0" i="0" sz="29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Desarrollo SCRUM++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Diagramas (Diagrama de Clase, Secuencia del diseño, de Componentes, de despliegue)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Árbol de Navegación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Casos de Prueba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Retrospectiva y Tabla de esfuerzo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Burn Down y Burn 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 rot="1528540">
            <a:off x="-292412" y="4287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3117883" y="828675"/>
            <a:ext cx="12052234" cy="122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5"/>
              <a:buFont typeface="Arial"/>
              <a:buNone/>
            </a:pPr>
            <a:r>
              <a:rPr b="1" i="0" lang="en-US" sz="675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 flipH="1" rot="-1285720">
            <a:off x="15941615" y="365032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3"/>
          <p:cNvGrpSpPr/>
          <p:nvPr/>
        </p:nvGrpSpPr>
        <p:grpSpPr>
          <a:xfrm>
            <a:off x="1398500" y="6182248"/>
            <a:ext cx="6222865" cy="1582060"/>
            <a:chOff x="0" y="-38100"/>
            <a:chExt cx="1638933" cy="757474"/>
          </a:xfrm>
        </p:grpSpPr>
        <p:sp>
          <p:nvSpPr>
            <p:cNvPr id="113" name="Google Shape;113;p3"/>
            <p:cNvSpPr/>
            <p:nvPr/>
          </p:nvSpPr>
          <p:spPr>
            <a:xfrm>
              <a:off x="0" y="0"/>
              <a:ext cx="1638933" cy="719374"/>
            </a:xfrm>
            <a:custGeom>
              <a:rect b="b" l="l" r="r" t="t"/>
              <a:pathLst>
                <a:path extrusionOk="0" h="719374" w="1638933">
                  <a:moveTo>
                    <a:pt x="63450" y="0"/>
                  </a:moveTo>
                  <a:lnTo>
                    <a:pt x="1575483" y="0"/>
                  </a:lnTo>
                  <a:cubicBezTo>
                    <a:pt x="1592311" y="0"/>
                    <a:pt x="1608450" y="6685"/>
                    <a:pt x="1620349" y="18584"/>
                  </a:cubicBezTo>
                  <a:cubicBezTo>
                    <a:pt x="1632248" y="30483"/>
                    <a:pt x="1638933" y="46622"/>
                    <a:pt x="1638933" y="63450"/>
                  </a:cubicBezTo>
                  <a:lnTo>
                    <a:pt x="1638933" y="655924"/>
                  </a:lnTo>
                  <a:cubicBezTo>
                    <a:pt x="1638933" y="672752"/>
                    <a:pt x="1632248" y="688891"/>
                    <a:pt x="1620349" y="700790"/>
                  </a:cubicBezTo>
                  <a:cubicBezTo>
                    <a:pt x="1608450" y="712690"/>
                    <a:pt x="1592311" y="719374"/>
                    <a:pt x="1575483" y="719374"/>
                  </a:cubicBezTo>
                  <a:lnTo>
                    <a:pt x="63450" y="719374"/>
                  </a:lnTo>
                  <a:cubicBezTo>
                    <a:pt x="46622" y="719374"/>
                    <a:pt x="30483" y="712690"/>
                    <a:pt x="18584" y="700790"/>
                  </a:cubicBezTo>
                  <a:cubicBezTo>
                    <a:pt x="6685" y="688891"/>
                    <a:pt x="0" y="672752"/>
                    <a:pt x="0" y="655924"/>
                  </a:cubicBezTo>
                  <a:lnTo>
                    <a:pt x="0" y="63450"/>
                  </a:lnTo>
                  <a:cubicBezTo>
                    <a:pt x="0" y="46622"/>
                    <a:pt x="6685" y="30483"/>
                    <a:pt x="18584" y="18584"/>
                  </a:cubicBezTo>
                  <a:cubicBezTo>
                    <a:pt x="30483" y="6685"/>
                    <a:pt x="46622" y="0"/>
                    <a:pt x="63450" y="0"/>
                  </a:cubicBezTo>
                  <a:close/>
                </a:path>
              </a:pathLst>
            </a:custGeom>
            <a:solidFill>
              <a:srgbClr val="7CA6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"/>
            <p:cNvSpPr txBox="1"/>
            <p:nvPr/>
          </p:nvSpPr>
          <p:spPr>
            <a:xfrm>
              <a:off x="0" y="-38100"/>
              <a:ext cx="1638933" cy="7574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3"/>
          <p:cNvGrpSpPr/>
          <p:nvPr/>
        </p:nvGrpSpPr>
        <p:grpSpPr>
          <a:xfrm>
            <a:off x="10095925" y="6191952"/>
            <a:ext cx="6222865" cy="1582054"/>
            <a:chOff x="0" y="-38100"/>
            <a:chExt cx="1638933" cy="752356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638933" cy="714256"/>
            </a:xfrm>
            <a:custGeom>
              <a:rect b="b" l="l" r="r" t="t"/>
              <a:pathLst>
                <a:path extrusionOk="0" h="714256" w="1638933">
                  <a:moveTo>
                    <a:pt x="63450" y="0"/>
                  </a:moveTo>
                  <a:lnTo>
                    <a:pt x="1575483" y="0"/>
                  </a:lnTo>
                  <a:cubicBezTo>
                    <a:pt x="1592311" y="0"/>
                    <a:pt x="1608450" y="6685"/>
                    <a:pt x="1620349" y="18584"/>
                  </a:cubicBezTo>
                  <a:cubicBezTo>
                    <a:pt x="1632248" y="30483"/>
                    <a:pt x="1638933" y="46622"/>
                    <a:pt x="1638933" y="63450"/>
                  </a:cubicBezTo>
                  <a:lnTo>
                    <a:pt x="1638933" y="650806"/>
                  </a:lnTo>
                  <a:cubicBezTo>
                    <a:pt x="1638933" y="667634"/>
                    <a:pt x="1632248" y="683772"/>
                    <a:pt x="1620349" y="695672"/>
                  </a:cubicBezTo>
                  <a:cubicBezTo>
                    <a:pt x="1608450" y="707571"/>
                    <a:pt x="1592311" y="714256"/>
                    <a:pt x="1575483" y="714256"/>
                  </a:cubicBezTo>
                  <a:lnTo>
                    <a:pt x="63450" y="714256"/>
                  </a:lnTo>
                  <a:cubicBezTo>
                    <a:pt x="46622" y="714256"/>
                    <a:pt x="30483" y="707571"/>
                    <a:pt x="18584" y="695672"/>
                  </a:cubicBezTo>
                  <a:cubicBezTo>
                    <a:pt x="6685" y="683772"/>
                    <a:pt x="0" y="667634"/>
                    <a:pt x="0" y="650806"/>
                  </a:cubicBezTo>
                  <a:lnTo>
                    <a:pt x="0" y="63450"/>
                  </a:lnTo>
                  <a:cubicBezTo>
                    <a:pt x="0" y="46622"/>
                    <a:pt x="6685" y="30483"/>
                    <a:pt x="18584" y="18584"/>
                  </a:cubicBezTo>
                  <a:cubicBezTo>
                    <a:pt x="30483" y="6685"/>
                    <a:pt x="46622" y="0"/>
                    <a:pt x="63450" y="0"/>
                  </a:cubicBezTo>
                  <a:close/>
                </a:path>
              </a:pathLst>
            </a:custGeom>
            <a:solidFill>
              <a:srgbClr val="F9D4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"/>
            <p:cNvSpPr txBox="1"/>
            <p:nvPr/>
          </p:nvSpPr>
          <p:spPr>
            <a:xfrm>
              <a:off x="0" y="-38100"/>
              <a:ext cx="1638933" cy="7523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3"/>
          <p:cNvSpPr txBox="1"/>
          <p:nvPr/>
        </p:nvSpPr>
        <p:spPr>
          <a:xfrm>
            <a:off x="2293945" y="4983263"/>
            <a:ext cx="43086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4043" u="none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Funcionalidades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4043" u="none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Priorizadas: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12080193" y="5294530"/>
            <a:ext cx="22542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4043" u="none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Enfoque: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1546505" y="6600926"/>
            <a:ext cx="58035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489" lvl="1" marL="474978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199"/>
              <a:buFont typeface="Arial"/>
              <a:buChar char="•"/>
            </a:pPr>
            <a:r>
              <a:rPr lang="en-US" sz="2199">
                <a:solidFill>
                  <a:srgbClr val="F8F8F8"/>
                </a:solidFill>
              </a:rPr>
              <a:t>Monitoreo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489" lvl="1" marL="474978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199"/>
              <a:buFont typeface="Arial"/>
              <a:buChar char="•"/>
            </a:pPr>
            <a:r>
              <a:rPr lang="en-US" sz="2199">
                <a:solidFill>
                  <a:srgbClr val="F8F8F8"/>
                </a:solidFill>
              </a:rPr>
              <a:t>Analisis de informacion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10305538" y="6868410"/>
            <a:ext cx="5803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488" lvl="1" marL="474977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2199"/>
              <a:buFont typeface="Arial"/>
              <a:buChar char="•"/>
            </a:pPr>
            <a:r>
              <a:rPr lang="en-US" sz="2199">
                <a:solidFill>
                  <a:srgbClr val="4495A2"/>
                </a:solidFill>
              </a:rPr>
              <a:t>Mejora de la experiencia del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2515825" y="2185276"/>
            <a:ext cx="13256400" cy="17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0" i="0" lang="en-US" sz="2199" u="none" cap="none" strike="noStrike">
                <a:solidFill>
                  <a:srgbClr val="F8F8F8"/>
                </a:solidFill>
                <a:latin typeface="Arial"/>
                <a:ea typeface="Arial"/>
                <a:cs typeface="Arial"/>
                <a:sym typeface="Arial"/>
              </a:rPr>
              <a:t>Para continuar el desarrollo del “Sistema de Gestión Documental para la Fundación Ciudad del Niño”,  en este </a:t>
            </a:r>
            <a:r>
              <a:rPr lang="en-US" sz="2199">
                <a:solidFill>
                  <a:srgbClr val="F8F8F8"/>
                </a:solidFill>
              </a:rPr>
              <a:t>tercer</a:t>
            </a:r>
            <a:r>
              <a:rPr b="0" i="0" lang="en-US" sz="2199" u="none" cap="none" strike="noStrike">
                <a:solidFill>
                  <a:srgbClr val="F8F8F8"/>
                </a:solidFill>
                <a:latin typeface="Arial"/>
                <a:ea typeface="Arial"/>
                <a:cs typeface="Arial"/>
                <a:sym typeface="Arial"/>
              </a:rPr>
              <a:t> incremento correspondiente al </a:t>
            </a:r>
            <a:r>
              <a:rPr lang="en-US" sz="2199">
                <a:solidFill>
                  <a:srgbClr val="F8F8F8"/>
                </a:solidFill>
              </a:rPr>
              <a:t>95</a:t>
            </a:r>
            <a:r>
              <a:rPr b="0" i="0" lang="en-US" sz="2199" u="none" cap="none" strike="noStrike">
                <a:solidFill>
                  <a:srgbClr val="F8F8F8"/>
                </a:solidFill>
                <a:latin typeface="Arial"/>
                <a:ea typeface="Arial"/>
                <a:cs typeface="Arial"/>
                <a:sym typeface="Arial"/>
              </a:rPr>
              <a:t>% del desarrollo del proyecto, se realizó el desarrollo y la implementación de más casos de uso con distintas funcionalidades, tales como </a:t>
            </a:r>
            <a:r>
              <a:rPr lang="en-US" sz="2199">
                <a:solidFill>
                  <a:srgbClr val="F8F8F8"/>
                </a:solidFill>
              </a:rPr>
              <a:t>centro de notificaciones</a:t>
            </a:r>
            <a:r>
              <a:rPr b="0" i="0" lang="en-US" sz="2199" u="none" cap="none" strike="noStrike">
                <a:solidFill>
                  <a:srgbClr val="F8F8F8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199">
                <a:solidFill>
                  <a:srgbClr val="F8F8F8"/>
                </a:solidFill>
              </a:rPr>
              <a:t>recordatorio de eventos, descarga masiva de documentos y cambio de datos personales.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15779768" y="0"/>
            <a:ext cx="2508232" cy="3592519"/>
          </a:xfrm>
          <a:custGeom>
            <a:rect b="b" l="l" r="r" t="t"/>
            <a:pathLst>
              <a:path extrusionOk="0" h="3592519" w="2508232">
                <a:moveTo>
                  <a:pt x="0" y="0"/>
                </a:moveTo>
                <a:lnTo>
                  <a:pt x="2508232" y="0"/>
                </a:lnTo>
                <a:lnTo>
                  <a:pt x="2508232" y="3592519"/>
                </a:lnTo>
                <a:lnTo>
                  <a:pt x="0" y="35925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2152650" y="883291"/>
            <a:ext cx="117144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b="1" i="0" lang="en-US" sz="6950" u="none" cap="none" strike="noStrike">
                <a:solidFill>
                  <a:srgbClr val="7CA655"/>
                </a:solidFill>
                <a:latin typeface="Poppins"/>
                <a:ea typeface="Poppins"/>
                <a:cs typeface="Poppins"/>
                <a:sym typeface="Poppins"/>
              </a:rPr>
              <a:t>OBJETIVOS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1158757" y="3611569"/>
            <a:ext cx="4732832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8"/>
              <a:buFont typeface="Arial"/>
              <a:buNone/>
            </a:pPr>
            <a:r>
              <a:rPr b="1" i="0" lang="en-US" sz="349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 General: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1028700" y="4541919"/>
            <a:ext cx="6200100" cy="4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rPr b="1" i="0" lang="en-US" sz="2770" u="none" cap="none" strike="noStrike">
                <a:solidFill>
                  <a:srgbClr val="4495A2"/>
                </a:solidFill>
                <a:latin typeface="Raleway"/>
                <a:ea typeface="Raleway"/>
                <a:cs typeface="Raleway"/>
                <a:sym typeface="Raleway"/>
              </a:rPr>
              <a:t>Desarrollar un sistema informático de gestión documental con el propósito de centralizar la información de los programas de protección infantil en la Fundación Ciudad del Niño.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t/>
            </a:r>
            <a:endParaRPr b="1" i="0" sz="2770" u="none" cap="none" strike="noStrike">
              <a:solidFill>
                <a:srgbClr val="4495A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8889378" y="3611569"/>
            <a:ext cx="5506778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8"/>
              <a:buFont typeface="Arial"/>
              <a:buNone/>
            </a:pPr>
            <a:r>
              <a:rPr b="1" i="0" lang="en-US" sz="349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Específicos: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8413705" y="4522869"/>
            <a:ext cx="7877100" cy="46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9107" lvl="1" marL="598214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2770"/>
              <a:buFont typeface="Arial"/>
              <a:buChar char="•"/>
            </a:pPr>
            <a:r>
              <a:rPr b="1" i="0" lang="en-US" sz="2770" u="none" cap="none" strike="noStrike">
                <a:solidFill>
                  <a:srgbClr val="4495A2"/>
                </a:solidFill>
                <a:latin typeface="Raleway"/>
                <a:ea typeface="Raleway"/>
                <a:cs typeface="Raleway"/>
                <a:sym typeface="Raleway"/>
              </a:rPr>
              <a:t>Diseñar un sistema, que funcione correctamente y pueda modificarse según las futuras necesidades de la fundación.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t/>
            </a:r>
            <a:endParaRPr b="1" i="0" sz="2770" u="none" cap="none" strike="noStrike">
              <a:solidFill>
                <a:srgbClr val="4495A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9107" lvl="1" marL="598214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2770"/>
              <a:buFont typeface="Arial"/>
              <a:buChar char="•"/>
            </a:pPr>
            <a:r>
              <a:rPr b="1" i="0" lang="en-US" sz="2770" u="none" cap="none" strike="noStrike">
                <a:solidFill>
                  <a:srgbClr val="4495A2"/>
                </a:solidFill>
                <a:latin typeface="Raleway"/>
                <a:ea typeface="Raleway"/>
                <a:cs typeface="Raleway"/>
                <a:sym typeface="Raleway"/>
              </a:rPr>
              <a:t>Desarrollar un sistema, con el objetivo de facilitar la supervisión institucional y mejorar la usabilidad y la toma de decisiones basada en datos.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0" y="62913"/>
            <a:ext cx="7315200" cy="1383238"/>
          </a:xfrm>
          <a:custGeom>
            <a:rect b="b" l="l" r="r" t="t"/>
            <a:pathLst>
              <a:path extrusionOk="0" h="1383238" w="7315200">
                <a:moveTo>
                  <a:pt x="0" y="0"/>
                </a:moveTo>
                <a:lnTo>
                  <a:pt x="7315200" y="0"/>
                </a:lnTo>
                <a:lnTo>
                  <a:pt x="7315200" y="1383238"/>
                </a:lnTo>
                <a:lnTo>
                  <a:pt x="0" y="1383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749ec0079_2_41"/>
          <p:cNvSpPr/>
          <p:nvPr/>
        </p:nvSpPr>
        <p:spPr>
          <a:xfrm>
            <a:off x="15779768" y="0"/>
            <a:ext cx="2508232" cy="3592519"/>
          </a:xfrm>
          <a:custGeom>
            <a:rect b="b" l="l" r="r" t="t"/>
            <a:pathLst>
              <a:path extrusionOk="0" h="3592519" w="2508232">
                <a:moveTo>
                  <a:pt x="0" y="0"/>
                </a:moveTo>
                <a:lnTo>
                  <a:pt x="2508232" y="0"/>
                </a:lnTo>
                <a:lnTo>
                  <a:pt x="2508232" y="3592519"/>
                </a:lnTo>
                <a:lnTo>
                  <a:pt x="0" y="35925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6749ec0079_2_41"/>
          <p:cNvSpPr txBox="1"/>
          <p:nvPr/>
        </p:nvSpPr>
        <p:spPr>
          <a:xfrm>
            <a:off x="2152650" y="883291"/>
            <a:ext cx="117144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b="1" i="0" lang="en-US" sz="6950" u="none" cap="none" strike="noStrike">
                <a:solidFill>
                  <a:srgbClr val="7CA655"/>
                </a:solidFill>
                <a:latin typeface="Poppins"/>
                <a:ea typeface="Poppins"/>
                <a:cs typeface="Poppins"/>
                <a:sym typeface="Poppins"/>
              </a:rPr>
              <a:t>Alcance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6749ec0079_2_41"/>
          <p:cNvSpPr txBox="1"/>
          <p:nvPr/>
        </p:nvSpPr>
        <p:spPr>
          <a:xfrm>
            <a:off x="1028700" y="4541919"/>
            <a:ext cx="62001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t/>
            </a:r>
            <a:endParaRPr b="1" i="0" sz="2770" u="none" cap="none" strike="noStrike">
              <a:solidFill>
                <a:srgbClr val="4495A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1" name="Google Shape;141;g36749ec0079_2_41"/>
          <p:cNvSpPr txBox="1"/>
          <p:nvPr/>
        </p:nvSpPr>
        <p:spPr>
          <a:xfrm>
            <a:off x="2628525" y="2745723"/>
            <a:ext cx="12408900" cy="58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En este </a:t>
            </a:r>
            <a:r>
              <a:rPr lang="en-US" sz="2400">
                <a:solidFill>
                  <a:schemeClr val="accent5"/>
                </a:solidFill>
              </a:rPr>
              <a:t>tercer</a:t>
            </a: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incremento alcanzamos el </a:t>
            </a:r>
            <a:r>
              <a:rPr lang="en-US" sz="2400">
                <a:solidFill>
                  <a:schemeClr val="accent5"/>
                </a:solidFill>
              </a:rPr>
              <a:t>95</a:t>
            </a: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% del proyecto, priorizando </a:t>
            </a:r>
            <a:r>
              <a:rPr lang="en-US" sz="2400">
                <a:solidFill>
                  <a:schemeClr val="accent5"/>
                </a:solidFill>
              </a:rPr>
              <a:t>la mejora de la experiencia del usuario</a:t>
            </a: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accent5"/>
                </a:solidFill>
              </a:rPr>
              <a:t>además de analisis de informacion</a:t>
            </a: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accent5"/>
                </a:solidFill>
              </a:rPr>
              <a:t>Recordatorio de eventos programados</a:t>
            </a:r>
            <a:b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accent5"/>
                </a:solidFill>
              </a:rPr>
              <a:t>Centro de notificaciones</a:t>
            </a:r>
            <a:b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accent5"/>
                </a:solidFill>
              </a:rPr>
              <a:t>Descarga masiva de documentos</a:t>
            </a:r>
            <a:b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accent5"/>
                </a:solidFill>
              </a:rPr>
              <a:t>KPI de subidas mensuales</a:t>
            </a:r>
            <a:b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4003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t/>
            </a:r>
            <a:endParaRPr b="1" i="0" sz="2770" u="none" cap="none" strike="noStrike">
              <a:solidFill>
                <a:srgbClr val="4495A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2" name="Google Shape;142;g36749ec0079_2_41"/>
          <p:cNvSpPr/>
          <p:nvPr/>
        </p:nvSpPr>
        <p:spPr>
          <a:xfrm>
            <a:off x="0" y="62913"/>
            <a:ext cx="7315200" cy="1383238"/>
          </a:xfrm>
          <a:custGeom>
            <a:rect b="b" l="l" r="r" t="t"/>
            <a:pathLst>
              <a:path extrusionOk="0" h="1383238" w="7315200">
                <a:moveTo>
                  <a:pt x="0" y="0"/>
                </a:moveTo>
                <a:lnTo>
                  <a:pt x="7315200" y="0"/>
                </a:lnTo>
                <a:lnTo>
                  <a:pt x="7315200" y="1383238"/>
                </a:lnTo>
                <a:lnTo>
                  <a:pt x="0" y="1383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 rot="1528540">
            <a:off x="-43937" y="298893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3117908" y="507625"/>
            <a:ext cx="120522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INTRODUCCIÓN AL SCRUM++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Product Backlog List</a:t>
            </a:r>
            <a:endParaRPr b="1" i="0" sz="56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1741378" y="7104392"/>
            <a:ext cx="1427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0" i="0" lang="en-US" sz="2999" u="none" cap="none" strike="noStrike">
                <a:solidFill>
                  <a:srgbClr val="F8F8F8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9312" y="3920225"/>
            <a:ext cx="15069375" cy="61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3117883" y="866775"/>
            <a:ext cx="12052234" cy="101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CLASES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3850" y="2681860"/>
            <a:ext cx="11296650" cy="603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749ec0079_2_33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6749ec0079_2_33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6749ec0079_2_33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Modelo fisico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g36749ec0079_2_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738" y="3213650"/>
            <a:ext cx="17146525" cy="464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0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3159311" y="866775"/>
            <a:ext cx="12052234" cy="101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COMPONENTES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613" y="2359400"/>
            <a:ext cx="17402774" cy="699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3117883" y="866775"/>
            <a:ext cx="12052234" cy="101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DESPLIEGUE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2650" y="2358973"/>
            <a:ext cx="12052251" cy="723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3117883" y="866775"/>
            <a:ext cx="12052234" cy="101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ÁRBOL DE NAVEGACIÓN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1383" y="1877060"/>
            <a:ext cx="11325225" cy="723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900a3008d_0_0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8900a3008d_0_0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8900a3008d_0_0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CASOS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8900a3008d_0_0"/>
          <p:cNvSpPr txBox="1"/>
          <p:nvPr/>
        </p:nvSpPr>
        <p:spPr>
          <a:xfrm>
            <a:off x="3611375" y="1835650"/>
            <a:ext cx="11065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rPr>
              <a:t>A Continuación se presentan 2 de los </a:t>
            </a:r>
            <a:r>
              <a:rPr lang="en-US" sz="2900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2900" u="none" cap="none" strike="noStrike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rPr>
              <a:t> casos de uso que se desarrollaron en este </a:t>
            </a:r>
            <a:r>
              <a:rPr lang="en-US" sz="2900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rPr>
              <a:t>tercer</a:t>
            </a:r>
            <a:r>
              <a:rPr b="0" i="0" lang="en-US" sz="2900" u="none" cap="none" strike="noStrike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rPr>
              <a:t> incremento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g38900a3008d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1513" y="2912950"/>
            <a:ext cx="7204926" cy="71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900a3008d_0_8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8900a3008d_0_8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8900a3008d_0_8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CASOS DE USO</a:t>
            </a:r>
            <a:endParaRPr b="1" i="0" sz="56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8" name="Google Shape;208;g38900a3008d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8250" y="2150600"/>
            <a:ext cx="7057775" cy="716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3117883" y="866775"/>
            <a:ext cx="120522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SECUENCIA DE 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1451150" y="3133675"/>
            <a:ext cx="79506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6874" lvl="1" marL="77724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b="1" i="0" lang="en-US" sz="3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Caso de uso: </a:t>
            </a:r>
            <a:r>
              <a:rPr b="1" lang="en-US" sz="3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Consultando notificaciones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9782625" y="3031700"/>
            <a:ext cx="67818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0521" lvl="1" marL="777247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Total Casos de uso= </a:t>
            </a:r>
            <a:r>
              <a:rPr b="1" lang="en-US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3825" y="4476875"/>
            <a:ext cx="9820275" cy="552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13"/>
          <p:cNvGrpSpPr/>
          <p:nvPr/>
        </p:nvGrpSpPr>
        <p:grpSpPr>
          <a:xfrm>
            <a:off x="554638" y="5667551"/>
            <a:ext cx="5012677" cy="2789673"/>
            <a:chOff x="0" y="-38100"/>
            <a:chExt cx="1638933" cy="752400"/>
          </a:xfrm>
        </p:grpSpPr>
        <p:sp>
          <p:nvSpPr>
            <p:cNvPr id="224" name="Google Shape;224;p13"/>
            <p:cNvSpPr/>
            <p:nvPr/>
          </p:nvSpPr>
          <p:spPr>
            <a:xfrm>
              <a:off x="0" y="0"/>
              <a:ext cx="1638933" cy="714256"/>
            </a:xfrm>
            <a:custGeom>
              <a:rect b="b" l="l" r="r" t="t"/>
              <a:pathLst>
                <a:path extrusionOk="0" h="714256" w="1638933">
                  <a:moveTo>
                    <a:pt x="63450" y="0"/>
                  </a:moveTo>
                  <a:lnTo>
                    <a:pt x="1575483" y="0"/>
                  </a:lnTo>
                  <a:cubicBezTo>
                    <a:pt x="1592311" y="0"/>
                    <a:pt x="1608450" y="6685"/>
                    <a:pt x="1620349" y="18584"/>
                  </a:cubicBezTo>
                  <a:cubicBezTo>
                    <a:pt x="1632248" y="30483"/>
                    <a:pt x="1638933" y="46622"/>
                    <a:pt x="1638933" y="63450"/>
                  </a:cubicBezTo>
                  <a:lnTo>
                    <a:pt x="1638933" y="650806"/>
                  </a:lnTo>
                  <a:cubicBezTo>
                    <a:pt x="1638933" y="667634"/>
                    <a:pt x="1632248" y="683772"/>
                    <a:pt x="1620349" y="695672"/>
                  </a:cubicBezTo>
                  <a:cubicBezTo>
                    <a:pt x="1608450" y="707571"/>
                    <a:pt x="1592311" y="714256"/>
                    <a:pt x="1575483" y="714256"/>
                  </a:cubicBezTo>
                  <a:lnTo>
                    <a:pt x="63450" y="714256"/>
                  </a:lnTo>
                  <a:cubicBezTo>
                    <a:pt x="46622" y="714256"/>
                    <a:pt x="30483" y="707571"/>
                    <a:pt x="18584" y="695672"/>
                  </a:cubicBezTo>
                  <a:cubicBezTo>
                    <a:pt x="6685" y="683772"/>
                    <a:pt x="0" y="667634"/>
                    <a:pt x="0" y="650806"/>
                  </a:cubicBezTo>
                  <a:lnTo>
                    <a:pt x="0" y="63450"/>
                  </a:lnTo>
                  <a:cubicBezTo>
                    <a:pt x="0" y="46622"/>
                    <a:pt x="6685" y="30483"/>
                    <a:pt x="18584" y="18584"/>
                  </a:cubicBezTo>
                  <a:cubicBezTo>
                    <a:pt x="30483" y="6685"/>
                    <a:pt x="46622" y="0"/>
                    <a:pt x="63450" y="0"/>
                  </a:cubicBezTo>
                  <a:close/>
                </a:path>
              </a:pathLst>
            </a:custGeom>
            <a:solidFill>
              <a:srgbClr val="F9D4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3"/>
            <p:cNvSpPr txBox="1"/>
            <p:nvPr/>
          </p:nvSpPr>
          <p:spPr>
            <a:xfrm>
              <a:off x="0" y="-38100"/>
              <a:ext cx="1638900" cy="7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13"/>
          <p:cNvSpPr/>
          <p:nvPr/>
        </p:nvSpPr>
        <p:spPr>
          <a:xfrm rot="1528540">
            <a:off x="216863" y="33671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3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3"/>
          <p:cNvSpPr txBox="1"/>
          <p:nvPr/>
        </p:nvSpPr>
        <p:spPr>
          <a:xfrm>
            <a:off x="3117883" y="866775"/>
            <a:ext cx="12052200" cy="22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CASOS DE PRUEBA: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CASO DE USO N°</a:t>
            </a:r>
            <a:r>
              <a:rPr b="1" lang="en-US" sz="3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42</a:t>
            </a:r>
            <a:r>
              <a:rPr b="1" i="0" lang="en-US" sz="3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b="1" lang="en-US" sz="3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Restricción por horario de acceso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3"/>
          <p:cNvSpPr txBox="1"/>
          <p:nvPr/>
        </p:nvSpPr>
        <p:spPr>
          <a:xfrm>
            <a:off x="622195" y="6008030"/>
            <a:ext cx="4703400" cy="2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Comprobar que, al acceder </a:t>
            </a:r>
            <a:r>
              <a:rPr lang="en-US" sz="1800">
                <a:solidFill>
                  <a:srgbClr val="4495A2"/>
                </a:solidFill>
              </a:rPr>
              <a:t>a las 6:30</a:t>
            </a: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, el sistema muestra un</a:t>
            </a:r>
            <a:r>
              <a:rPr lang="en-US" sz="1800">
                <a:solidFill>
                  <a:srgbClr val="4495A2"/>
                </a:solidFill>
              </a:rPr>
              <a:t> mensaje</a:t>
            </a: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 inicial de </a:t>
            </a:r>
            <a:r>
              <a:rPr lang="en-US" sz="1800">
                <a:solidFill>
                  <a:srgbClr val="4495A2"/>
                </a:solidFill>
              </a:rPr>
              <a:t>“El sistema cerrara sesion  en 1 min”</a:t>
            </a: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rgbClr val="4495A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495A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495A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" name="Google Shape;230;p13"/>
          <p:cNvGrpSpPr/>
          <p:nvPr/>
        </p:nvGrpSpPr>
        <p:grpSpPr>
          <a:xfrm>
            <a:off x="5889188" y="5676127"/>
            <a:ext cx="5587778" cy="2772519"/>
            <a:chOff x="0" y="-38100"/>
            <a:chExt cx="1638933" cy="752400"/>
          </a:xfrm>
        </p:grpSpPr>
        <p:sp>
          <p:nvSpPr>
            <p:cNvPr id="231" name="Google Shape;231;p13"/>
            <p:cNvSpPr/>
            <p:nvPr/>
          </p:nvSpPr>
          <p:spPr>
            <a:xfrm>
              <a:off x="0" y="0"/>
              <a:ext cx="1638933" cy="714256"/>
            </a:xfrm>
            <a:custGeom>
              <a:rect b="b" l="l" r="r" t="t"/>
              <a:pathLst>
                <a:path extrusionOk="0" h="714256" w="1638933">
                  <a:moveTo>
                    <a:pt x="63450" y="0"/>
                  </a:moveTo>
                  <a:lnTo>
                    <a:pt x="1575483" y="0"/>
                  </a:lnTo>
                  <a:cubicBezTo>
                    <a:pt x="1592311" y="0"/>
                    <a:pt x="1608450" y="6685"/>
                    <a:pt x="1620349" y="18584"/>
                  </a:cubicBezTo>
                  <a:cubicBezTo>
                    <a:pt x="1632248" y="30483"/>
                    <a:pt x="1638933" y="46622"/>
                    <a:pt x="1638933" y="63450"/>
                  </a:cubicBezTo>
                  <a:lnTo>
                    <a:pt x="1638933" y="650806"/>
                  </a:lnTo>
                  <a:cubicBezTo>
                    <a:pt x="1638933" y="667634"/>
                    <a:pt x="1632248" y="683772"/>
                    <a:pt x="1620349" y="695672"/>
                  </a:cubicBezTo>
                  <a:cubicBezTo>
                    <a:pt x="1608450" y="707571"/>
                    <a:pt x="1592311" y="714256"/>
                    <a:pt x="1575483" y="714256"/>
                  </a:cubicBezTo>
                  <a:lnTo>
                    <a:pt x="63450" y="714256"/>
                  </a:lnTo>
                  <a:cubicBezTo>
                    <a:pt x="46622" y="714256"/>
                    <a:pt x="30483" y="707571"/>
                    <a:pt x="18584" y="695672"/>
                  </a:cubicBezTo>
                  <a:cubicBezTo>
                    <a:pt x="6685" y="683772"/>
                    <a:pt x="0" y="667634"/>
                    <a:pt x="0" y="650806"/>
                  </a:cubicBezTo>
                  <a:lnTo>
                    <a:pt x="0" y="63450"/>
                  </a:lnTo>
                  <a:cubicBezTo>
                    <a:pt x="0" y="46622"/>
                    <a:pt x="6685" y="30483"/>
                    <a:pt x="18584" y="18584"/>
                  </a:cubicBezTo>
                  <a:cubicBezTo>
                    <a:pt x="30483" y="6685"/>
                    <a:pt x="46622" y="0"/>
                    <a:pt x="63450" y="0"/>
                  </a:cubicBezTo>
                  <a:close/>
                </a:path>
              </a:pathLst>
            </a:custGeom>
            <a:solidFill>
              <a:srgbClr val="F9D4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highlight>
                  <a:srgbClr val="7CA655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3"/>
            <p:cNvSpPr txBox="1"/>
            <p:nvPr/>
          </p:nvSpPr>
          <p:spPr>
            <a:xfrm>
              <a:off x="0" y="-38100"/>
              <a:ext cx="1638900" cy="7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highlight>
                  <a:srgbClr val="7CA655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3"/>
          <p:cNvSpPr txBox="1"/>
          <p:nvPr/>
        </p:nvSpPr>
        <p:spPr>
          <a:xfrm>
            <a:off x="6151368" y="6177030"/>
            <a:ext cx="50127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El sistema automáticamente cierra sesion despues de llegar</a:t>
            </a:r>
            <a:r>
              <a:rPr lang="en-US" sz="1800">
                <a:solidFill>
                  <a:srgbClr val="4495A2"/>
                </a:solidFill>
              </a:rPr>
              <a:t> a 6:31.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>
            <a:off x="528085" y="4863150"/>
            <a:ext cx="5099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3643" u="sng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Caso de Prueba:</a:t>
            </a:r>
            <a:endParaRPr b="0" i="0" sz="10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 txBox="1"/>
          <p:nvPr/>
        </p:nvSpPr>
        <p:spPr>
          <a:xfrm>
            <a:off x="6753570" y="4422730"/>
            <a:ext cx="3858900" cy="1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3843" u="sng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Resultados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3843" u="sng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Esperados:</a:t>
            </a:r>
            <a:endParaRPr b="0" i="0" sz="12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p13"/>
          <p:cNvGrpSpPr/>
          <p:nvPr/>
        </p:nvGrpSpPr>
        <p:grpSpPr>
          <a:xfrm>
            <a:off x="11692850" y="5676125"/>
            <a:ext cx="6015481" cy="2772359"/>
            <a:chOff x="0" y="-47625"/>
            <a:chExt cx="1443600" cy="1176600"/>
          </a:xfrm>
        </p:grpSpPr>
        <p:sp>
          <p:nvSpPr>
            <p:cNvPr id="237" name="Google Shape;237;p13"/>
            <p:cNvSpPr/>
            <p:nvPr/>
          </p:nvSpPr>
          <p:spPr>
            <a:xfrm>
              <a:off x="0" y="0"/>
              <a:ext cx="1443589" cy="1128905"/>
            </a:xfrm>
            <a:custGeom>
              <a:rect b="b" l="l" r="r" t="t"/>
              <a:pathLst>
                <a:path extrusionOk="0" h="1128905" w="1443589">
                  <a:moveTo>
                    <a:pt x="72036" y="0"/>
                  </a:moveTo>
                  <a:lnTo>
                    <a:pt x="1371553" y="0"/>
                  </a:lnTo>
                  <a:cubicBezTo>
                    <a:pt x="1411337" y="0"/>
                    <a:pt x="1443589" y="32252"/>
                    <a:pt x="1443589" y="72036"/>
                  </a:cubicBezTo>
                  <a:lnTo>
                    <a:pt x="1443589" y="1056869"/>
                  </a:lnTo>
                  <a:cubicBezTo>
                    <a:pt x="1443589" y="1096653"/>
                    <a:pt x="1411337" y="1128905"/>
                    <a:pt x="1371553" y="1128905"/>
                  </a:cubicBezTo>
                  <a:lnTo>
                    <a:pt x="72036" y="1128905"/>
                  </a:lnTo>
                  <a:cubicBezTo>
                    <a:pt x="32252" y="1128905"/>
                    <a:pt x="0" y="1096653"/>
                    <a:pt x="0" y="1056869"/>
                  </a:cubicBezTo>
                  <a:lnTo>
                    <a:pt x="0" y="72036"/>
                  </a:lnTo>
                  <a:cubicBezTo>
                    <a:pt x="0" y="32252"/>
                    <a:pt x="32252" y="0"/>
                    <a:pt x="72036" y="0"/>
                  </a:cubicBezTo>
                  <a:close/>
                </a:path>
              </a:pathLst>
            </a:custGeom>
            <a:solidFill>
              <a:srgbClr val="7CA6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3"/>
            <p:cNvSpPr txBox="1"/>
            <p:nvPr/>
          </p:nvSpPr>
          <p:spPr>
            <a:xfrm>
              <a:off x="0" y="-47625"/>
              <a:ext cx="1443600" cy="11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13"/>
          <p:cNvSpPr txBox="1"/>
          <p:nvPr/>
        </p:nvSpPr>
        <p:spPr>
          <a:xfrm>
            <a:off x="12720788" y="4464529"/>
            <a:ext cx="3858900" cy="1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3843" u="sng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Resultados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3843" u="sng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Obtenidos:</a:t>
            </a:r>
            <a:endParaRPr b="0" i="0" sz="12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3"/>
          <p:cNvSpPr txBox="1"/>
          <p:nvPr/>
        </p:nvSpPr>
        <p:spPr>
          <a:xfrm>
            <a:off x="11748117" y="6008015"/>
            <a:ext cx="5904900" cy="2043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8F8F8"/>
                </a:solidFill>
              </a:rPr>
              <a:t>El sistema cerro sesion despues de llegar a la hora </a:t>
            </a:r>
            <a:r>
              <a:rPr lang="en-US" sz="1800">
                <a:solidFill>
                  <a:srgbClr val="F8F8F8"/>
                </a:solidFill>
              </a:rPr>
              <a:t>indicada</a:t>
            </a:r>
            <a:r>
              <a:rPr lang="en-US" sz="1800">
                <a:solidFill>
                  <a:srgbClr val="F8F8F8"/>
                </a:solidFill>
              </a:rPr>
              <a:t> en el programa.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3"/>
          <p:cNvSpPr txBox="1"/>
          <p:nvPr/>
        </p:nvSpPr>
        <p:spPr>
          <a:xfrm>
            <a:off x="3684875" y="3220425"/>
            <a:ext cx="110652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rPr>
              <a:t>Caso de prueba del Caso de uso N°</a:t>
            </a:r>
            <a:r>
              <a:rPr lang="en-US" sz="2900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r>
              <a:rPr b="0" i="0" lang="en-US" sz="2900" u="none" cap="none" strike="noStrike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rPr>
              <a:t> de un total de </a:t>
            </a:r>
            <a:r>
              <a:rPr lang="en-US" sz="2900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2900" u="none" cap="none" strike="noStrike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rPr>
              <a:t> Casos de Prueba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749ec0079_2_1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6749ec0079_2_1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6749ec0079_2_1"/>
          <p:cNvSpPr txBox="1"/>
          <p:nvPr/>
        </p:nvSpPr>
        <p:spPr>
          <a:xfrm>
            <a:off x="3117883" y="866775"/>
            <a:ext cx="12052200" cy="22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CASOS DE PRUEBA: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CASO DE USO N°</a:t>
            </a:r>
            <a:r>
              <a:rPr b="1" lang="en-US" sz="3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42</a:t>
            </a:r>
            <a:r>
              <a:rPr b="1" i="0" lang="en-US" sz="3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b="1" lang="en-US" sz="3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Restricción por horario de acceso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6749ec0079_2_1"/>
          <p:cNvSpPr txBox="1"/>
          <p:nvPr/>
        </p:nvSpPr>
        <p:spPr>
          <a:xfrm>
            <a:off x="5953750" y="5036025"/>
            <a:ext cx="5425500" cy="41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Verificar que, al seleccionar la opción Registrar, se despliegue el formulario completo (nombre, correo, contraseña, confirmación de contraseña)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Verificar el registro exitoso con datos valids y contraseña que cumpla la política (mi.8 caracteres, mayuscula, minúscula y número)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Verificar la validaion de formato de correo electronico incorrecto (c.lpezastro1@@uandresbello.edu)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Verificar el rechazo del registro cuando el correo ya existe en la base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6749ec0079_2_1"/>
          <p:cNvSpPr txBox="1"/>
          <p:nvPr/>
        </p:nvSpPr>
        <p:spPr>
          <a:xfrm>
            <a:off x="7095525" y="4886850"/>
            <a:ext cx="5684400" cy="41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El sistema muestra el formulario con todos los campos requeridos y el botón “Crear cuenta” inicialmente deshabilitado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Con datos válidos, el sistema guarda el registro, muestra la notificación verde “Cuenta creada con éxito” y redirige al inicio de sesión.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El sistema despliega la alerta “Dirección de correo electrónico inválida” y no habilita el botón “Crear cuenta”.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El sistema muestra la alerta “El correo electrónico ya esta registrado” y cancela el registro.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6749ec0079_2_1"/>
          <p:cNvSpPr txBox="1"/>
          <p:nvPr/>
        </p:nvSpPr>
        <p:spPr>
          <a:xfrm>
            <a:off x="13899862" y="3436900"/>
            <a:ext cx="385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t/>
            </a:r>
            <a:endParaRPr b="0" i="0" sz="12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g36749ec0079_2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15950" y="4020871"/>
            <a:ext cx="7928550" cy="396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36749ec0079_2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850" y="3907849"/>
            <a:ext cx="8608477" cy="452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4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4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Retrospectiva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5727" y="2518274"/>
            <a:ext cx="14641675" cy="608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5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5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Tabla de esfuerzo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4845" y="1881075"/>
            <a:ext cx="12501167" cy="78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6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6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Burn 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7075" y="2391675"/>
            <a:ext cx="9866399" cy="60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7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7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Burn 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0900" y="2721474"/>
            <a:ext cx="9551549" cy="592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/>
          <p:nvPr/>
        </p:nvSpPr>
        <p:spPr>
          <a:xfrm rot="-5400000">
            <a:off x="2305967" y="-4046210"/>
            <a:ext cx="3239213" cy="9578319"/>
          </a:xfrm>
          <a:custGeom>
            <a:rect b="b" l="l" r="r" t="t"/>
            <a:pathLst>
              <a:path extrusionOk="0" h="9578319" w="3239213">
                <a:moveTo>
                  <a:pt x="0" y="0"/>
                </a:moveTo>
                <a:lnTo>
                  <a:pt x="3239214" y="0"/>
                </a:lnTo>
                <a:lnTo>
                  <a:pt x="3239214" y="9578320"/>
                </a:lnTo>
                <a:lnTo>
                  <a:pt x="0" y="9578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8"/>
          <p:cNvSpPr txBox="1"/>
          <p:nvPr/>
        </p:nvSpPr>
        <p:spPr>
          <a:xfrm>
            <a:off x="4344674" y="3446615"/>
            <a:ext cx="9598652" cy="3327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3"/>
              <a:buFont typeface="Arial"/>
              <a:buNone/>
            </a:pPr>
            <a:r>
              <a:rPr b="1" i="0" lang="en-US" sz="1088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MUCHAS GRACIAS!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8"/>
          <p:cNvSpPr/>
          <p:nvPr/>
        </p:nvSpPr>
        <p:spPr>
          <a:xfrm rot="5400000">
            <a:off x="12752344" y="4745365"/>
            <a:ext cx="3239213" cy="9578319"/>
          </a:xfrm>
          <a:custGeom>
            <a:rect b="b" l="l" r="r" t="t"/>
            <a:pathLst>
              <a:path extrusionOk="0" h="9578319" w="3239213">
                <a:moveTo>
                  <a:pt x="0" y="0"/>
                </a:moveTo>
                <a:lnTo>
                  <a:pt x="3239214" y="0"/>
                </a:lnTo>
                <a:lnTo>
                  <a:pt x="3239214" y="9578320"/>
                </a:lnTo>
                <a:lnTo>
                  <a:pt x="0" y="9578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